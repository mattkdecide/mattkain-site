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65760"/>
            <a:ext cx="3657600" cy="457200"/>
          </a:xfrm>
          <a:prstGeom prst="rect">
            <a:avLst/>
          </a:prstGeom>
          <a:noFill/>
        </p:spPr>
        <p:txBody>
          <a:bodyPr wrap="square">
            <a:spAutoFit/>
          </a:bodyPr>
          <a:lstStyle/>
          <a:p>
            <a:pPr algn="l"/>
            <a:r>
              <a:rPr sz="1300" b="1" i="0">
                <a:solidFill>
                  <a:srgbClr val="F0F0F2"/>
                </a:solidFill>
                <a:latin typeface="Calibri"/>
              </a:rPr>
              <a:t>adobe.pub</a:t>
            </a:r>
          </a:p>
        </p:txBody>
      </p:sp>
      <p:sp>
        <p:nvSpPr>
          <p:cNvPr id="4" name="TextBox 3"/>
          <p:cNvSpPr txBox="1"/>
          <p:nvPr/>
        </p:nvSpPr>
        <p:spPr>
          <a:xfrm>
            <a:off x="365760" y="777240"/>
            <a:ext cx="9144000" cy="365760"/>
          </a:xfrm>
          <a:prstGeom prst="rect">
            <a:avLst/>
          </a:prstGeom>
          <a:noFill/>
        </p:spPr>
        <p:txBody>
          <a:bodyPr wrap="square">
            <a:spAutoFit/>
          </a:bodyPr>
          <a:lstStyle/>
          <a:p>
            <a:pPr algn="l"/>
            <a:r>
              <a:rPr sz="900" b="1" i="0">
                <a:solidFill>
                  <a:srgbClr val="EB1000"/>
                </a:solidFill>
                <a:latin typeface="Calibri"/>
              </a:rPr>
              <a:t>ACCOUNT OPERATING SYSTEM  ·  APAC  ·  INTERNAL CONFIDENTIAL</a:t>
            </a:r>
          </a:p>
        </p:txBody>
      </p:sp>
      <p:sp>
        <p:nvSpPr>
          <p:cNvPr id="5" name="TextBox 4"/>
          <p:cNvSpPr txBox="1"/>
          <p:nvPr/>
        </p:nvSpPr>
        <p:spPr>
          <a:xfrm>
            <a:off x="365760" y="1554480"/>
            <a:ext cx="8229600" cy="1280160"/>
          </a:xfrm>
          <a:prstGeom prst="rect">
            <a:avLst/>
          </a:prstGeom>
          <a:noFill/>
        </p:spPr>
        <p:txBody>
          <a:bodyPr wrap="square">
            <a:spAutoFit/>
          </a:bodyPr>
          <a:lstStyle/>
          <a:p>
            <a:pPr algn="l"/>
            <a:r>
              <a:rPr sz="6000" b="1" i="0">
                <a:solidFill>
                  <a:srgbClr val="F0F0F2"/>
                </a:solidFill>
                <a:latin typeface="Calibri"/>
              </a:rPr>
              <a:t>Vision 2028</a:t>
            </a:r>
          </a:p>
        </p:txBody>
      </p:sp>
      <p:sp>
        <p:nvSpPr>
          <p:cNvPr id="6" name="TextBox 5"/>
          <p:cNvSpPr txBox="1"/>
          <p:nvPr/>
        </p:nvSpPr>
        <p:spPr>
          <a:xfrm>
            <a:off x="365760" y="2926080"/>
            <a:ext cx="8229600" cy="640080"/>
          </a:xfrm>
          <a:prstGeom prst="rect">
            <a:avLst/>
          </a:prstGeom>
          <a:noFill/>
        </p:spPr>
        <p:txBody>
          <a:bodyPr wrap="square">
            <a:spAutoFit/>
          </a:bodyPr>
          <a:lstStyle/>
          <a:p>
            <a:pPr algn="l"/>
            <a:r>
              <a:rPr sz="2000" b="0" i="1">
                <a:solidFill>
                  <a:srgbClr val="D4A840"/>
                </a:solidFill>
                <a:latin typeface="Calibri"/>
              </a:rPr>
              <a:t>“Not just the Adobe agency. The Adobe partner.”</a:t>
            </a:r>
          </a:p>
        </p:txBody>
      </p:sp>
      <p:sp>
        <p:nvSpPr>
          <p:cNvPr id="7" name="TextBox 6"/>
          <p:cNvSpPr txBox="1"/>
          <p:nvPr/>
        </p:nvSpPr>
        <p:spPr>
          <a:xfrm>
            <a:off x="365760" y="3840480"/>
            <a:ext cx="2560320" cy="365760"/>
          </a:xfrm>
          <a:prstGeom prst="rect">
            <a:avLst/>
          </a:prstGeom>
          <a:noFill/>
        </p:spPr>
        <p:txBody>
          <a:bodyPr wrap="square">
            <a:spAutoFit/>
          </a:bodyPr>
          <a:lstStyle/>
          <a:p>
            <a:pPr algn="l"/>
            <a:r>
              <a:rPr sz="1000" b="0" i="0">
                <a:solidFill>
                  <a:srgbClr val="8888A0"/>
                </a:solidFill>
                <a:latin typeface="Calibri"/>
              </a:rPr>
              <a:t>Matt Kain  ·  APAC Client Lead</a:t>
            </a:r>
          </a:p>
        </p:txBody>
      </p:sp>
      <p:sp>
        <p:nvSpPr>
          <p:cNvPr id="8" name="TextBox 7"/>
          <p:cNvSpPr txBox="1"/>
          <p:nvPr/>
        </p:nvSpPr>
        <p:spPr>
          <a:xfrm>
            <a:off x="3017520" y="3840480"/>
            <a:ext cx="2560320" cy="365760"/>
          </a:xfrm>
          <a:prstGeom prst="rect">
            <a:avLst/>
          </a:prstGeom>
          <a:noFill/>
        </p:spPr>
        <p:txBody>
          <a:bodyPr wrap="square">
            <a:spAutoFit/>
          </a:bodyPr>
          <a:lstStyle/>
          <a:p>
            <a:pPr algn="l"/>
            <a:r>
              <a:rPr sz="1000" b="0" i="0">
                <a:solidFill>
                  <a:srgbClr val="8888A0"/>
                </a:solidFill>
                <a:latin typeface="Calibri"/>
              </a:rPr>
              <a:t>Zenith / Publicis Media</a:t>
            </a:r>
          </a:p>
        </p:txBody>
      </p:sp>
      <p:sp>
        <p:nvSpPr>
          <p:cNvPr id="9" name="TextBox 8"/>
          <p:cNvSpPr txBox="1"/>
          <p:nvPr/>
        </p:nvSpPr>
        <p:spPr>
          <a:xfrm>
            <a:off x="5669280" y="3840480"/>
            <a:ext cx="2560320" cy="365760"/>
          </a:xfrm>
          <a:prstGeom prst="rect">
            <a:avLst/>
          </a:prstGeom>
          <a:noFill/>
        </p:spPr>
        <p:txBody>
          <a:bodyPr wrap="square">
            <a:spAutoFit/>
          </a:bodyPr>
          <a:lstStyle/>
          <a:p>
            <a:pPr algn="l"/>
            <a:r>
              <a:rPr sz="1000" b="0" i="0">
                <a:solidFill>
                  <a:srgbClr val="8888A0"/>
                </a:solidFill>
                <a:latin typeface="Calibri"/>
              </a:rPr>
              <a:t>May 2026</a:t>
            </a:r>
          </a:p>
        </p:txBody>
      </p:sp>
      <p:sp>
        <p:nvSpPr>
          <p:cNvPr id="10" name="TextBox 9"/>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a:spAutoFit/>
          </a:bodyPr>
          <a:lstStyle/>
          <a:p>
            <a:pPr algn="l"/>
            <a:r>
              <a:rPr sz="900" b="1" i="0">
                <a:solidFill>
                  <a:srgbClr val="EB1000"/>
                </a:solidFill>
                <a:latin typeface="Calibri"/>
              </a:rPr>
              <a:t>CONTEXT</a:t>
            </a:r>
          </a:p>
        </p:txBody>
      </p:sp>
      <p:sp>
        <p:nvSpPr>
          <p:cNvPr id="3" name="TextBox 2"/>
          <p:cNvSpPr txBox="1"/>
          <p:nvPr/>
        </p:nvSpPr>
        <p:spPr>
          <a:xfrm>
            <a:off x="548640" y="777240"/>
            <a:ext cx="10058400" cy="640080"/>
          </a:xfrm>
          <a:prstGeom prst="rect">
            <a:avLst/>
          </a:prstGeom>
          <a:noFill/>
        </p:spPr>
        <p:txBody>
          <a:bodyPr wrap="square">
            <a:spAutoFit/>
          </a:bodyPr>
          <a:lstStyle/>
          <a:p>
            <a:pPr algn="l"/>
            <a:r>
              <a:rPr sz="3200" b="1" i="0">
                <a:solidFill>
                  <a:srgbClr val="F0F0F2"/>
                </a:solidFill>
                <a:latin typeface="Calibri"/>
              </a:rPr>
              <a:t>The Renewal Moment</a:t>
            </a:r>
          </a:p>
        </p:txBody>
      </p:sp>
      <p:sp>
        <p:nvSpPr>
          <p:cNvPr id="4" name="Rectangle 3"/>
          <p:cNvSpPr/>
          <p:nvPr/>
        </p:nvSpPr>
        <p:spPr>
          <a:xfrm>
            <a:off x="548640" y="14173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00200"/>
            <a:ext cx="10789920" cy="4572000"/>
          </a:xfrm>
          <a:prstGeom prst="rect">
            <a:avLst/>
          </a:prstGeom>
          <a:noFill/>
        </p:spPr>
        <p:txBody>
          <a:bodyPr wrap="square">
            <a:spAutoFit/>
          </a:bodyPr>
          <a:lstStyle/>
          <a:p>
            <a:pPr algn="l"/>
            <a:r>
              <a:rPr sz="1300" b="0" i="0">
                <a:solidFill>
                  <a:srgbClr val="8888A0"/>
                </a:solidFill>
                <a:latin typeface="Calibri"/>
              </a:rPr>
              <a:t>The Adobe APAC account reaches a natural renewal point in 2026 — the close of an initial three-year term and the opening of the next. Seven markets, active SOWs, established teams, working client relationships. What has developed is a collection of independent market operations rather than a cohesive, high-performing regional partnership. This is the moment to define what the next three years actually deliver.
The renewal will proceed — but the next 90 days is the window to codify the changes that should have been made. The People and Client Operations work happening right now is not preparatory to the renewal. It is the renewal content. Whatever gets resolved across org design, ways of working, and accountability structures in the next 90 days gets written into the new three-year terms.
The plan is structured across three pillars — People, Client Operations, and Growth — each directly connected to one of the three Adobe.pub vision convictions. The sequencing is deliberate: build the team, build the relationship, then build the commercial case.</a:t>
            </a:r>
          </a:p>
        </p:txBody>
      </p:sp>
      <p:sp>
        <p:nvSpPr>
          <p:cNvPr id="6" name="TextBox 5"/>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a:spAutoFit/>
          </a:bodyPr>
          <a:lstStyle/>
          <a:p>
            <a:pPr algn="l"/>
            <a:r>
              <a:rPr sz="900" b="1" i="0">
                <a:solidFill>
                  <a:srgbClr val="EB1000"/>
                </a:solidFill>
                <a:latin typeface="Calibri"/>
              </a:rPr>
              <a:t>LANDSCAPE</a:t>
            </a:r>
          </a:p>
        </p:txBody>
      </p:sp>
      <p:sp>
        <p:nvSpPr>
          <p:cNvPr id="3" name="TextBox 2"/>
          <p:cNvSpPr txBox="1"/>
          <p:nvPr/>
        </p:nvSpPr>
        <p:spPr>
          <a:xfrm>
            <a:off x="548640" y="777240"/>
            <a:ext cx="10058400" cy="640080"/>
          </a:xfrm>
          <a:prstGeom prst="rect">
            <a:avLst/>
          </a:prstGeom>
          <a:noFill/>
        </p:spPr>
        <p:txBody>
          <a:bodyPr wrap="square">
            <a:spAutoFit/>
          </a:bodyPr>
          <a:lstStyle/>
          <a:p>
            <a:pPr algn="l"/>
            <a:r>
              <a:rPr sz="3200" b="1" i="0">
                <a:solidFill>
                  <a:srgbClr val="F0F0F2"/>
                </a:solidFill>
                <a:latin typeface="Calibri"/>
              </a:rPr>
              <a:t>Competitive Pressure &amp; Strategic Response</a:t>
            </a:r>
          </a:p>
        </p:txBody>
      </p:sp>
      <p:sp>
        <p:nvSpPr>
          <p:cNvPr id="4" name="Rectangle 3"/>
          <p:cNvSpPr/>
          <p:nvPr/>
        </p:nvSpPr>
        <p:spPr>
          <a:xfrm>
            <a:off x="548640" y="14173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600200"/>
            <a:ext cx="5303520" cy="219456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783080"/>
            <a:ext cx="4937760" cy="457200"/>
          </a:xfrm>
          <a:prstGeom prst="rect">
            <a:avLst/>
          </a:prstGeom>
          <a:noFill/>
        </p:spPr>
        <p:txBody>
          <a:bodyPr wrap="square">
            <a:spAutoFit/>
          </a:bodyPr>
          <a:lstStyle/>
          <a:p>
            <a:pPr algn="l"/>
            <a:r>
              <a:rPr sz="1400" b="1" i="0">
                <a:solidFill>
                  <a:srgbClr val="F0F0F2"/>
                </a:solidFill>
                <a:latin typeface="Calibri"/>
              </a:rPr>
              <a:t>Canva Moving Upmarket</a:t>
            </a:r>
          </a:p>
        </p:txBody>
      </p:sp>
      <p:sp>
        <p:nvSpPr>
          <p:cNvPr id="7" name="TextBox 6"/>
          <p:cNvSpPr txBox="1"/>
          <p:nvPr/>
        </p:nvSpPr>
        <p:spPr>
          <a:xfrm>
            <a:off x="731520" y="2286000"/>
            <a:ext cx="4937760" cy="1371600"/>
          </a:xfrm>
          <a:prstGeom prst="rect">
            <a:avLst/>
          </a:prstGeom>
          <a:noFill/>
        </p:spPr>
        <p:txBody>
          <a:bodyPr wrap="square">
            <a:spAutoFit/>
          </a:bodyPr>
          <a:lstStyle/>
          <a:p>
            <a:pPr algn="l"/>
            <a:r>
              <a:rPr sz="1200" b="0" i="0">
                <a:solidFill>
                  <a:srgbClr val="8888A0"/>
                </a:solidFill>
                <a:latin typeface="Calibri"/>
              </a:rPr>
              <a:t>Canva has captured the prosumer and SMB creative market with speed and simplicity that legacy Creative Cloud cannot easily replicate — and it is moving upmarket fast into professional and business workflows.</a:t>
            </a:r>
          </a:p>
        </p:txBody>
      </p:sp>
      <p:sp>
        <p:nvSpPr>
          <p:cNvPr id="8" name="Rectangle 7"/>
          <p:cNvSpPr/>
          <p:nvPr/>
        </p:nvSpPr>
        <p:spPr>
          <a:xfrm>
            <a:off x="5989320" y="1600200"/>
            <a:ext cx="5303520" cy="219456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783080"/>
            <a:ext cx="4937760" cy="457200"/>
          </a:xfrm>
          <a:prstGeom prst="rect">
            <a:avLst/>
          </a:prstGeom>
          <a:noFill/>
        </p:spPr>
        <p:txBody>
          <a:bodyPr wrap="square">
            <a:spAutoFit/>
          </a:bodyPr>
          <a:lstStyle/>
          <a:p>
            <a:pPr algn="l"/>
            <a:r>
              <a:rPr sz="1400" b="1" i="0">
                <a:solidFill>
                  <a:srgbClr val="F0F0F2"/>
                </a:solidFill>
                <a:latin typeface="Calibri"/>
              </a:rPr>
              <a:t>LLMs Commoditising Creative</a:t>
            </a:r>
          </a:p>
        </p:txBody>
      </p:sp>
      <p:sp>
        <p:nvSpPr>
          <p:cNvPr id="10" name="TextBox 9"/>
          <p:cNvSpPr txBox="1"/>
          <p:nvPr/>
        </p:nvSpPr>
        <p:spPr>
          <a:xfrm>
            <a:off x="6172200" y="2286000"/>
            <a:ext cx="4937760" cy="1371600"/>
          </a:xfrm>
          <a:prstGeom prst="rect">
            <a:avLst/>
          </a:prstGeom>
          <a:noFill/>
        </p:spPr>
        <p:txBody>
          <a:bodyPr wrap="square">
            <a:spAutoFit/>
          </a:bodyPr>
          <a:lstStyle/>
          <a:p>
            <a:pPr algn="l"/>
            <a:r>
              <a:rPr sz="1200" b="0" i="0">
                <a:solidFill>
                  <a:srgbClr val="8888A0"/>
                </a:solidFill>
                <a:latin typeface="Calibri"/>
              </a:rPr>
              <a:t>Generative AI tools are commoditising basic creative and copywriting tasks that once required Adobe’s toolkit, lowering the barrier to entry across the content production stack.</a:t>
            </a:r>
          </a:p>
        </p:txBody>
      </p:sp>
      <p:sp>
        <p:nvSpPr>
          <p:cNvPr id="11" name="Rectangle 10"/>
          <p:cNvSpPr/>
          <p:nvPr/>
        </p:nvSpPr>
        <p:spPr>
          <a:xfrm>
            <a:off x="548640" y="3977639"/>
            <a:ext cx="10789920" cy="210312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160520"/>
            <a:ext cx="3657600" cy="320040"/>
          </a:xfrm>
          <a:prstGeom prst="rect">
            <a:avLst/>
          </a:prstGeom>
          <a:noFill/>
        </p:spPr>
        <p:txBody>
          <a:bodyPr wrap="square">
            <a:spAutoFit/>
          </a:bodyPr>
          <a:lstStyle/>
          <a:p>
            <a:pPr algn="l"/>
            <a:r>
              <a:rPr sz="900" b="1" i="0">
                <a:solidFill>
                  <a:srgbClr val="EB1000"/>
                </a:solidFill>
                <a:latin typeface="Calibri"/>
              </a:rPr>
              <a:t>STRATEGIC RESPONSE</a:t>
            </a:r>
          </a:p>
        </p:txBody>
      </p:sp>
      <p:sp>
        <p:nvSpPr>
          <p:cNvPr id="13" name="TextBox 12"/>
          <p:cNvSpPr txBox="1"/>
          <p:nvPr/>
        </p:nvSpPr>
        <p:spPr>
          <a:xfrm>
            <a:off x="777240" y="4526280"/>
            <a:ext cx="10332720" cy="1371600"/>
          </a:xfrm>
          <a:prstGeom prst="rect">
            <a:avLst/>
          </a:prstGeom>
          <a:noFill/>
        </p:spPr>
        <p:txBody>
          <a:bodyPr wrap="square">
            <a:spAutoFit/>
          </a:bodyPr>
          <a:lstStyle/>
          <a:p>
            <a:pPr algn="l"/>
            <a:r>
              <a:rPr sz="1200" b="0" i="0">
                <a:solidFill>
                  <a:srgbClr val="8888A0"/>
                </a:solidFill>
                <a:latin typeface="Calibri"/>
              </a:rPr>
              <a:t>Agentic and AI-powered search is creating a new optimisation discipline at the intersection of SEO, content strategy, and model visibility. Velocity Content and Growth should be framed as audience intelligence, AI-enabled insight tooling, market support, content velocity, and enablement around Adobe’s evolving operating model — not only as a production service. The 20 May JAPAC / Pete call validated this direction and sharpened the commercial risk: Publicis needs to define the replacement value proposition.</a:t>
            </a:r>
          </a:p>
        </p:txBody>
      </p:sp>
      <p:sp>
        <p:nvSpPr>
          <p:cNvPr id="14" name="TextBox 13"/>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a:spAutoFit/>
          </a:bodyPr>
          <a:lstStyle/>
          <a:p>
            <a:pPr algn="l"/>
            <a:r>
              <a:rPr sz="900" b="1" i="0">
                <a:solidFill>
                  <a:srgbClr val="EB1000"/>
                </a:solidFill>
                <a:latin typeface="Calibri"/>
              </a:rPr>
              <a:t>VISION ARCHITECTURE</a:t>
            </a:r>
          </a:p>
        </p:txBody>
      </p:sp>
      <p:sp>
        <p:nvSpPr>
          <p:cNvPr id="3" name="TextBox 2"/>
          <p:cNvSpPr txBox="1"/>
          <p:nvPr/>
        </p:nvSpPr>
        <p:spPr>
          <a:xfrm>
            <a:off x="548640" y="777240"/>
            <a:ext cx="10058400" cy="640080"/>
          </a:xfrm>
          <a:prstGeom prst="rect">
            <a:avLst/>
          </a:prstGeom>
          <a:noFill/>
        </p:spPr>
        <p:txBody>
          <a:bodyPr wrap="square">
            <a:spAutoFit/>
          </a:bodyPr>
          <a:lstStyle/>
          <a:p>
            <a:pPr algn="l"/>
            <a:r>
              <a:rPr sz="3200" b="1" i="0">
                <a:solidFill>
                  <a:srgbClr val="F0F0F2"/>
                </a:solidFill>
                <a:latin typeface="Calibri"/>
              </a:rPr>
              <a:t>Three Pillars</a:t>
            </a:r>
          </a:p>
        </p:txBody>
      </p:sp>
      <p:sp>
        <p:nvSpPr>
          <p:cNvPr id="4" name="Rectangle 3"/>
          <p:cNvSpPr/>
          <p:nvPr/>
        </p:nvSpPr>
        <p:spPr>
          <a:xfrm>
            <a:off x="548640" y="14173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600200"/>
            <a:ext cx="3566160" cy="438912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3291840" cy="502920"/>
          </a:xfrm>
          <a:prstGeom prst="rect">
            <a:avLst/>
          </a:prstGeom>
          <a:noFill/>
        </p:spPr>
        <p:txBody>
          <a:bodyPr wrap="square">
            <a:spAutoFit/>
          </a:bodyPr>
          <a:lstStyle/>
          <a:p>
            <a:pPr algn="l"/>
            <a:r>
              <a:rPr sz="900" b="1" i="0">
                <a:solidFill>
                  <a:srgbClr val="D4A840"/>
                </a:solidFill>
                <a:latin typeface="Calibri"/>
              </a:rPr>
              <a:t>PILLAR 01
People Lane</a:t>
            </a:r>
          </a:p>
        </p:txBody>
      </p:sp>
      <p:sp>
        <p:nvSpPr>
          <p:cNvPr id="7" name="TextBox 6"/>
          <p:cNvSpPr txBox="1"/>
          <p:nvPr/>
        </p:nvSpPr>
        <p:spPr>
          <a:xfrm>
            <a:off x="685800" y="2377440"/>
            <a:ext cx="3291840" cy="685800"/>
          </a:xfrm>
          <a:prstGeom prst="rect">
            <a:avLst/>
          </a:prstGeom>
          <a:noFill/>
        </p:spPr>
        <p:txBody>
          <a:bodyPr wrap="square">
            <a:spAutoFit/>
          </a:bodyPr>
          <a:lstStyle/>
          <a:p>
            <a:pPr algn="l"/>
            <a:r>
              <a:rPr sz="1600" b="1" i="0">
                <a:solidFill>
                  <a:srgbClr val="F0F0F2"/>
                </a:solidFill>
                <a:latin typeface="Calibri"/>
              </a:rPr>
              <a:t>Culture &amp; Destination</a:t>
            </a:r>
          </a:p>
        </p:txBody>
      </p:sp>
      <p:sp>
        <p:nvSpPr>
          <p:cNvPr id="8" name="TextBox 7"/>
          <p:cNvSpPr txBox="1"/>
          <p:nvPr/>
        </p:nvSpPr>
        <p:spPr>
          <a:xfrm>
            <a:off x="685800" y="3154680"/>
            <a:ext cx="3291840" cy="1920240"/>
          </a:xfrm>
          <a:prstGeom prst="rect">
            <a:avLst/>
          </a:prstGeom>
          <a:noFill/>
        </p:spPr>
        <p:txBody>
          <a:bodyPr wrap="square">
            <a:spAutoFit/>
          </a:bodyPr>
          <a:lstStyle/>
          <a:p>
            <a:pPr algn="l"/>
            <a:r>
              <a:rPr sz="1200" b="0" i="0">
                <a:solidFill>
                  <a:srgbClr val="8888A0"/>
                </a:solidFill>
                <a:latin typeface="Calibri"/>
              </a:rPr>
              <a:t>Become the account people at Zenith want to work on. Strong team identity, client integration, and meaningful recognition at every level. Elevate ICs closest to delivery into genuine client leaders with real ownership — not task lists.</a:t>
            </a:r>
          </a:p>
        </p:txBody>
      </p:sp>
      <p:sp>
        <p:nvSpPr>
          <p:cNvPr id="9" name="TextBox 8"/>
          <p:cNvSpPr txBox="1"/>
          <p:nvPr/>
        </p:nvSpPr>
        <p:spPr>
          <a:xfrm>
            <a:off x="685800" y="5532120"/>
            <a:ext cx="3291840" cy="365760"/>
          </a:xfrm>
          <a:prstGeom prst="rect">
            <a:avLst/>
          </a:prstGeom>
          <a:noFill/>
        </p:spPr>
        <p:txBody>
          <a:bodyPr wrap="square">
            <a:spAutoFit/>
          </a:bodyPr>
          <a:lstStyle/>
          <a:p>
            <a:pPr algn="l"/>
            <a:r>
              <a:rPr sz="1000" b="1" i="0">
                <a:solidFill>
                  <a:srgbClr val="D4A840"/>
                </a:solidFill>
                <a:latin typeface="Calibri"/>
              </a:rPr>
              <a:t>→ People Lane</a:t>
            </a:r>
          </a:p>
        </p:txBody>
      </p:sp>
      <p:sp>
        <p:nvSpPr>
          <p:cNvPr id="10" name="Rectangle 9"/>
          <p:cNvSpPr/>
          <p:nvPr/>
        </p:nvSpPr>
        <p:spPr>
          <a:xfrm>
            <a:off x="4160520" y="1600200"/>
            <a:ext cx="3566160" cy="438912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783080"/>
            <a:ext cx="3291840" cy="502920"/>
          </a:xfrm>
          <a:prstGeom prst="rect">
            <a:avLst/>
          </a:prstGeom>
          <a:noFill/>
        </p:spPr>
        <p:txBody>
          <a:bodyPr wrap="square">
            <a:spAutoFit/>
          </a:bodyPr>
          <a:lstStyle/>
          <a:p>
            <a:pPr algn="l"/>
            <a:r>
              <a:rPr sz="900" b="1" i="0">
                <a:solidFill>
                  <a:srgbClr val="5B9CF6"/>
                </a:solidFill>
                <a:latin typeface="Calibri"/>
              </a:rPr>
              <a:t>PILLAR 02
Client Ops Lane</a:t>
            </a:r>
          </a:p>
        </p:txBody>
      </p:sp>
      <p:sp>
        <p:nvSpPr>
          <p:cNvPr id="12" name="TextBox 11"/>
          <p:cNvSpPr txBox="1"/>
          <p:nvPr/>
        </p:nvSpPr>
        <p:spPr>
          <a:xfrm>
            <a:off x="4343400" y="2377440"/>
            <a:ext cx="3291840" cy="685800"/>
          </a:xfrm>
          <a:prstGeom prst="rect">
            <a:avLst/>
          </a:prstGeom>
          <a:noFill/>
        </p:spPr>
        <p:txBody>
          <a:bodyPr wrap="square">
            <a:spAutoFit/>
          </a:bodyPr>
          <a:lstStyle/>
          <a:p>
            <a:pPr algn="l"/>
            <a:r>
              <a:rPr sz="1600" b="1" i="0">
                <a:solidFill>
                  <a:srgbClr val="F0F0F2"/>
                </a:solidFill>
                <a:latin typeface="Calibri"/>
              </a:rPr>
              <a:t>Digital Excellence
&amp; Adobe Power</a:t>
            </a:r>
          </a:p>
        </p:txBody>
      </p:sp>
      <p:sp>
        <p:nvSpPr>
          <p:cNvPr id="13" name="TextBox 12"/>
          <p:cNvSpPr txBox="1"/>
          <p:nvPr/>
        </p:nvSpPr>
        <p:spPr>
          <a:xfrm>
            <a:off x="4343400" y="3154680"/>
            <a:ext cx="3291840" cy="1920240"/>
          </a:xfrm>
          <a:prstGeom prst="rect">
            <a:avLst/>
          </a:prstGeom>
          <a:noFill/>
        </p:spPr>
        <p:txBody>
          <a:bodyPr wrap="square">
            <a:spAutoFit/>
          </a:bodyPr>
          <a:lstStyle/>
          <a:p>
            <a:pPr algn="l"/>
            <a:r>
              <a:rPr sz="1200" b="0" i="0">
                <a:solidFill>
                  <a:srgbClr val="8888A0"/>
                </a:solidFill>
                <a:latin typeface="Calibri"/>
              </a:rPr>
              <a:t>Be the best digital operator in the room. Best-in-class programmatic and SEM. Work that wins digital awards. Become the leading Adobe tool user in the Publicis network. Tie performance to at-risk compensation: when the account wins, the team wins.</a:t>
            </a:r>
          </a:p>
        </p:txBody>
      </p:sp>
      <p:sp>
        <p:nvSpPr>
          <p:cNvPr id="14" name="TextBox 13"/>
          <p:cNvSpPr txBox="1"/>
          <p:nvPr/>
        </p:nvSpPr>
        <p:spPr>
          <a:xfrm>
            <a:off x="4343400" y="5532120"/>
            <a:ext cx="3291840" cy="365760"/>
          </a:xfrm>
          <a:prstGeom prst="rect">
            <a:avLst/>
          </a:prstGeom>
          <a:noFill/>
        </p:spPr>
        <p:txBody>
          <a:bodyPr wrap="square">
            <a:spAutoFit/>
          </a:bodyPr>
          <a:lstStyle/>
          <a:p>
            <a:pPr algn="l"/>
            <a:r>
              <a:rPr sz="1000" b="1" i="0">
                <a:solidFill>
                  <a:srgbClr val="5B9CF6"/>
                </a:solidFill>
                <a:latin typeface="Calibri"/>
              </a:rPr>
              <a:t>→ Client Operations Lane</a:t>
            </a:r>
          </a:p>
        </p:txBody>
      </p:sp>
      <p:sp>
        <p:nvSpPr>
          <p:cNvPr id="15" name="Rectangle 14"/>
          <p:cNvSpPr/>
          <p:nvPr/>
        </p:nvSpPr>
        <p:spPr>
          <a:xfrm>
            <a:off x="7818120" y="1600200"/>
            <a:ext cx="3566160" cy="438912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01000" y="1783080"/>
            <a:ext cx="3291840" cy="502920"/>
          </a:xfrm>
          <a:prstGeom prst="rect">
            <a:avLst/>
          </a:prstGeom>
          <a:noFill/>
        </p:spPr>
        <p:txBody>
          <a:bodyPr wrap="square">
            <a:spAutoFit/>
          </a:bodyPr>
          <a:lstStyle/>
          <a:p>
            <a:pPr algn="l"/>
            <a:r>
              <a:rPr sz="900" b="1" i="0">
                <a:solidFill>
                  <a:srgbClr val="4EC994"/>
                </a:solidFill>
                <a:latin typeface="Calibri"/>
              </a:rPr>
              <a:t>PILLAR 03
Growth Lane</a:t>
            </a:r>
          </a:p>
        </p:txBody>
      </p:sp>
      <p:sp>
        <p:nvSpPr>
          <p:cNvPr id="17" name="TextBox 16"/>
          <p:cNvSpPr txBox="1"/>
          <p:nvPr/>
        </p:nvSpPr>
        <p:spPr>
          <a:xfrm>
            <a:off x="8001000" y="2377440"/>
            <a:ext cx="3291840" cy="685800"/>
          </a:xfrm>
          <a:prstGeom prst="rect">
            <a:avLst/>
          </a:prstGeom>
          <a:noFill/>
        </p:spPr>
        <p:txBody>
          <a:bodyPr wrap="square">
            <a:spAutoFit/>
          </a:bodyPr>
          <a:lstStyle/>
          <a:p>
            <a:pPr algn="l"/>
            <a:r>
              <a:rPr sz="1600" b="1" i="0">
                <a:solidFill>
                  <a:srgbClr val="F0F0F2"/>
                </a:solidFill>
                <a:latin typeface="Calibri"/>
              </a:rPr>
              <a:t>Velocity Content
&amp; Growth</a:t>
            </a:r>
          </a:p>
        </p:txBody>
      </p:sp>
      <p:sp>
        <p:nvSpPr>
          <p:cNvPr id="18" name="TextBox 17"/>
          <p:cNvSpPr txBox="1"/>
          <p:nvPr/>
        </p:nvSpPr>
        <p:spPr>
          <a:xfrm>
            <a:off x="8001000" y="3154680"/>
            <a:ext cx="3291840" cy="1920240"/>
          </a:xfrm>
          <a:prstGeom prst="rect">
            <a:avLst/>
          </a:prstGeom>
          <a:noFill/>
        </p:spPr>
        <p:txBody>
          <a:bodyPr wrap="square">
            <a:spAutoFit/>
          </a:bodyPr>
          <a:lstStyle/>
          <a:p>
            <a:pPr algn="l"/>
            <a:r>
              <a:rPr sz="1200" b="0" i="0">
                <a:solidFill>
                  <a:srgbClr val="8888A0"/>
                </a:solidFill>
                <a:latin typeface="Calibri"/>
              </a:rPr>
              <a:t>Expand the partnership beyond the media buy into content, creation, and optimisation. A Velocity Content team running rapid test-and-learn cycles across lower funnel media and social. Content strategy and production for SEO and AI-optimised search.</a:t>
            </a:r>
          </a:p>
        </p:txBody>
      </p:sp>
      <p:sp>
        <p:nvSpPr>
          <p:cNvPr id="19" name="TextBox 18"/>
          <p:cNvSpPr txBox="1"/>
          <p:nvPr/>
        </p:nvSpPr>
        <p:spPr>
          <a:xfrm>
            <a:off x="8001000" y="5532120"/>
            <a:ext cx="3291840" cy="365760"/>
          </a:xfrm>
          <a:prstGeom prst="rect">
            <a:avLst/>
          </a:prstGeom>
          <a:noFill/>
        </p:spPr>
        <p:txBody>
          <a:bodyPr wrap="square">
            <a:spAutoFit/>
          </a:bodyPr>
          <a:lstStyle/>
          <a:p>
            <a:pPr algn="l"/>
            <a:r>
              <a:rPr sz="1000" b="1" i="0">
                <a:solidFill>
                  <a:srgbClr val="4EC994"/>
                </a:solidFill>
                <a:latin typeface="Calibri"/>
              </a:rPr>
              <a:t>→ Growth Lane</a:t>
            </a:r>
          </a:p>
        </p:txBody>
      </p:sp>
      <p:sp>
        <p:nvSpPr>
          <p:cNvPr id="20" name="TextBox 19"/>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a:spAutoFit/>
          </a:bodyPr>
          <a:lstStyle/>
          <a:p>
            <a:pPr algn="l"/>
            <a:r>
              <a:rPr sz="900" b="1" i="0">
                <a:solidFill>
                  <a:srgbClr val="EB1000"/>
                </a:solidFill>
                <a:latin typeface="Calibri"/>
              </a:rPr>
              <a:t>IN THREE YEARS</a:t>
            </a:r>
          </a:p>
        </p:txBody>
      </p:sp>
      <p:sp>
        <p:nvSpPr>
          <p:cNvPr id="3" name="TextBox 2"/>
          <p:cNvSpPr txBox="1"/>
          <p:nvPr/>
        </p:nvSpPr>
        <p:spPr>
          <a:xfrm>
            <a:off x="548640" y="777240"/>
            <a:ext cx="10058400" cy="640080"/>
          </a:xfrm>
          <a:prstGeom prst="rect">
            <a:avLst/>
          </a:prstGeom>
          <a:noFill/>
        </p:spPr>
        <p:txBody>
          <a:bodyPr wrap="square">
            <a:spAutoFit/>
          </a:bodyPr>
          <a:lstStyle/>
          <a:p>
            <a:pPr algn="l"/>
            <a:r>
              <a:rPr sz="3200" b="1" i="0">
                <a:solidFill>
                  <a:srgbClr val="F0F0F2"/>
                </a:solidFill>
                <a:latin typeface="Calibri"/>
              </a:rPr>
              <a:t>Three-Year North Star Outcomes</a:t>
            </a:r>
          </a:p>
        </p:txBody>
      </p:sp>
      <p:sp>
        <p:nvSpPr>
          <p:cNvPr id="4" name="Rectangle 3"/>
          <p:cNvSpPr/>
          <p:nvPr/>
        </p:nvSpPr>
        <p:spPr>
          <a:xfrm>
            <a:off x="548640" y="14173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00200"/>
            <a:ext cx="10515600" cy="548640"/>
          </a:xfrm>
          <a:prstGeom prst="rect">
            <a:avLst/>
          </a:prstGeom>
          <a:noFill/>
        </p:spPr>
        <p:txBody>
          <a:bodyPr wrap="square">
            <a:spAutoFit/>
          </a:bodyPr>
          <a:lstStyle/>
          <a:p>
            <a:pPr algn="l"/>
            <a:r>
              <a:rPr sz="1800" b="0" i="1">
                <a:solidFill>
                  <a:srgbClr val="D4A840"/>
                </a:solidFill>
                <a:latin typeface="Calibri"/>
              </a:rPr>
              <a:t>“Not just the Adobe agency. The Adobe partner.”</a:t>
            </a:r>
          </a:p>
        </p:txBody>
      </p:sp>
      <p:sp>
        <p:nvSpPr>
          <p:cNvPr id="6" name="Rectangle 5"/>
          <p:cNvSpPr/>
          <p:nvPr/>
        </p:nvSpPr>
        <p:spPr>
          <a:xfrm>
            <a:off x="502920" y="2331720"/>
            <a:ext cx="3566160" cy="347472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514600"/>
            <a:ext cx="3291840" cy="640080"/>
          </a:xfrm>
          <a:prstGeom prst="rect">
            <a:avLst/>
          </a:prstGeom>
          <a:noFill/>
        </p:spPr>
        <p:txBody>
          <a:bodyPr wrap="square">
            <a:spAutoFit/>
          </a:bodyPr>
          <a:lstStyle/>
          <a:p>
            <a:pPr algn="l"/>
            <a:r>
              <a:rPr sz="1000" b="1" i="0">
                <a:solidFill>
                  <a:srgbClr val="D4A840"/>
                </a:solidFill>
                <a:latin typeface="Calibri"/>
              </a:rPr>
              <a:t>In Three Years
PEOPLE</a:t>
            </a:r>
          </a:p>
        </p:txBody>
      </p:sp>
      <p:sp>
        <p:nvSpPr>
          <p:cNvPr id="8" name="TextBox 7"/>
          <p:cNvSpPr txBox="1"/>
          <p:nvPr/>
        </p:nvSpPr>
        <p:spPr>
          <a:xfrm>
            <a:off x="685800" y="3200400"/>
            <a:ext cx="3291840" cy="2286000"/>
          </a:xfrm>
          <a:prstGeom prst="rect">
            <a:avLst/>
          </a:prstGeom>
          <a:noFill/>
        </p:spPr>
        <p:txBody>
          <a:bodyPr wrap="square">
            <a:spAutoFit/>
          </a:bodyPr>
          <a:lstStyle/>
          <a:p>
            <a:pPr algn="l"/>
            <a:r>
              <a:rPr sz="1400" b="0" i="0">
                <a:solidFill>
                  <a:srgbClr val="F0F0F2"/>
                </a:solidFill>
                <a:latin typeface="Calibri"/>
              </a:rPr>
              <a:t>Adobe.pub is the account Zenith people compete to work on. Seven markets, one team, clear ownership at every level.</a:t>
            </a:r>
          </a:p>
        </p:txBody>
      </p:sp>
      <p:sp>
        <p:nvSpPr>
          <p:cNvPr id="9" name="Rectangle 8"/>
          <p:cNvSpPr/>
          <p:nvPr/>
        </p:nvSpPr>
        <p:spPr>
          <a:xfrm>
            <a:off x="4160520" y="2331720"/>
            <a:ext cx="3566160" cy="347472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43400" y="2514600"/>
            <a:ext cx="3291840" cy="640080"/>
          </a:xfrm>
          <a:prstGeom prst="rect">
            <a:avLst/>
          </a:prstGeom>
          <a:noFill/>
        </p:spPr>
        <p:txBody>
          <a:bodyPr wrap="square">
            <a:spAutoFit/>
          </a:bodyPr>
          <a:lstStyle/>
          <a:p>
            <a:pPr algn="l"/>
            <a:r>
              <a:rPr sz="1000" b="1" i="0">
                <a:solidFill>
                  <a:srgbClr val="5B9CF6"/>
                </a:solidFill>
                <a:latin typeface="Calibri"/>
              </a:rPr>
              <a:t>In Three Years
CLIENT OPS</a:t>
            </a:r>
          </a:p>
        </p:txBody>
      </p:sp>
      <p:sp>
        <p:nvSpPr>
          <p:cNvPr id="11" name="TextBox 10"/>
          <p:cNvSpPr txBox="1"/>
          <p:nvPr/>
        </p:nvSpPr>
        <p:spPr>
          <a:xfrm>
            <a:off x="4343400" y="3200400"/>
            <a:ext cx="3291840" cy="2286000"/>
          </a:xfrm>
          <a:prstGeom prst="rect">
            <a:avLst/>
          </a:prstGeom>
          <a:noFill/>
        </p:spPr>
        <p:txBody>
          <a:bodyPr wrap="square">
            <a:spAutoFit/>
          </a:bodyPr>
          <a:lstStyle/>
          <a:p>
            <a:pPr algn="l"/>
            <a:r>
              <a:rPr sz="1400" b="0" i="0">
                <a:solidFill>
                  <a:srgbClr val="F0F0F2"/>
                </a:solidFill>
                <a:latin typeface="Calibri"/>
              </a:rPr>
              <a:t>Zenith leads the Publicis network on Adobe tool adoption. We win digital awards. Our compensation reflects our performance.</a:t>
            </a:r>
          </a:p>
        </p:txBody>
      </p:sp>
      <p:sp>
        <p:nvSpPr>
          <p:cNvPr id="12" name="Rectangle 11"/>
          <p:cNvSpPr/>
          <p:nvPr/>
        </p:nvSpPr>
        <p:spPr>
          <a:xfrm>
            <a:off x="7818120" y="2331720"/>
            <a:ext cx="3566160" cy="347472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01000" y="2514600"/>
            <a:ext cx="3291840" cy="640080"/>
          </a:xfrm>
          <a:prstGeom prst="rect">
            <a:avLst/>
          </a:prstGeom>
          <a:noFill/>
        </p:spPr>
        <p:txBody>
          <a:bodyPr wrap="square">
            <a:spAutoFit/>
          </a:bodyPr>
          <a:lstStyle/>
          <a:p>
            <a:pPr algn="l"/>
            <a:r>
              <a:rPr sz="1000" b="1" i="0">
                <a:solidFill>
                  <a:srgbClr val="4EC994"/>
                </a:solidFill>
                <a:latin typeface="Calibri"/>
              </a:rPr>
              <a:t>In Three Years
GROWTH</a:t>
            </a:r>
          </a:p>
        </p:txBody>
      </p:sp>
      <p:sp>
        <p:nvSpPr>
          <p:cNvPr id="14" name="TextBox 13"/>
          <p:cNvSpPr txBox="1"/>
          <p:nvPr/>
        </p:nvSpPr>
        <p:spPr>
          <a:xfrm>
            <a:off x="8001000" y="3200400"/>
            <a:ext cx="3291840" cy="2286000"/>
          </a:xfrm>
          <a:prstGeom prst="rect">
            <a:avLst/>
          </a:prstGeom>
          <a:noFill/>
        </p:spPr>
        <p:txBody>
          <a:bodyPr wrap="square">
            <a:spAutoFit/>
          </a:bodyPr>
          <a:lstStyle/>
          <a:p>
            <a:pPr algn="l"/>
            <a:r>
              <a:rPr sz="1400" b="0" i="0">
                <a:solidFill>
                  <a:srgbClr val="F0F0F2"/>
                </a:solidFill>
                <a:latin typeface="Calibri"/>
              </a:rPr>
              <a:t>A Velocity Content team runs test-and-learn for Adobe across APAC. AI search optimisation is in scope. SG and IN are full participants.</a:t>
            </a:r>
          </a:p>
        </p:txBody>
      </p:sp>
      <p:sp>
        <p:nvSpPr>
          <p:cNvPr id="15" name="TextBox 14"/>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a:spAutoFit/>
          </a:bodyPr>
          <a:lstStyle/>
          <a:p>
            <a:pPr algn="l"/>
            <a:r>
              <a:rPr sz="900" b="1" i="0">
                <a:solidFill>
                  <a:srgbClr val="EB1000"/>
                </a:solidFill>
                <a:latin typeface="Calibri"/>
              </a:rPr>
              <a:t>ROLLOUT SEQUENCE</a:t>
            </a:r>
          </a:p>
        </p:txBody>
      </p:sp>
      <p:sp>
        <p:nvSpPr>
          <p:cNvPr id="3" name="TextBox 2"/>
          <p:cNvSpPr txBox="1"/>
          <p:nvPr/>
        </p:nvSpPr>
        <p:spPr>
          <a:xfrm>
            <a:off x="548640" y="777240"/>
            <a:ext cx="10058400" cy="640080"/>
          </a:xfrm>
          <a:prstGeom prst="rect">
            <a:avLst/>
          </a:prstGeom>
          <a:noFill/>
        </p:spPr>
        <p:txBody>
          <a:bodyPr wrap="square">
            <a:spAutoFit/>
          </a:bodyPr>
          <a:lstStyle/>
          <a:p>
            <a:pPr algn="l"/>
            <a:r>
              <a:rPr sz="3200" b="1" i="0">
                <a:solidFill>
                  <a:srgbClr val="F0F0F2"/>
                </a:solidFill>
                <a:latin typeface="Calibri"/>
              </a:rPr>
              <a:t>Audience Staging</a:t>
            </a:r>
          </a:p>
        </p:txBody>
      </p:sp>
      <p:sp>
        <p:nvSpPr>
          <p:cNvPr id="4" name="Rectangle 3"/>
          <p:cNvSpPr/>
          <p:nvPr/>
        </p:nvSpPr>
        <p:spPr>
          <a:xfrm>
            <a:off x="548640" y="14173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00200"/>
            <a:ext cx="457200" cy="658368"/>
          </a:xfrm>
          <a:prstGeom prst="rect">
            <a:avLst/>
          </a:prstGeom>
          <a:noFill/>
        </p:spPr>
        <p:txBody>
          <a:bodyPr wrap="square">
            <a:spAutoFit/>
          </a:bodyPr>
          <a:lstStyle/>
          <a:p>
            <a:pPr algn="l"/>
            <a:r>
              <a:rPr sz="1200" b="1" i="0">
                <a:solidFill>
                  <a:srgbClr val="F0F0F2"/>
                </a:solidFill>
                <a:latin typeface="Calibri"/>
              </a:rPr>
              <a:t>1</a:t>
            </a:r>
          </a:p>
        </p:txBody>
      </p:sp>
      <p:sp>
        <p:nvSpPr>
          <p:cNvPr id="6" name="TextBox 5"/>
          <p:cNvSpPr txBox="1"/>
          <p:nvPr/>
        </p:nvSpPr>
        <p:spPr>
          <a:xfrm>
            <a:off x="1005840" y="1600200"/>
            <a:ext cx="2286000" cy="658368"/>
          </a:xfrm>
          <a:prstGeom prst="rect">
            <a:avLst/>
          </a:prstGeom>
          <a:noFill/>
        </p:spPr>
        <p:txBody>
          <a:bodyPr wrap="square">
            <a:spAutoFit/>
          </a:bodyPr>
          <a:lstStyle/>
          <a:p>
            <a:pPr algn="l"/>
            <a:r>
              <a:rPr sz="1100" b="1" i="0">
                <a:solidFill>
                  <a:srgbClr val="F0F0F2"/>
                </a:solidFill>
                <a:latin typeface="Calibri"/>
              </a:rPr>
              <a:t>Jonny Cordony &amp; Nicola Watkins</a:t>
            </a:r>
          </a:p>
        </p:txBody>
      </p:sp>
      <p:sp>
        <p:nvSpPr>
          <p:cNvPr id="7" name="TextBox 6"/>
          <p:cNvSpPr txBox="1"/>
          <p:nvPr/>
        </p:nvSpPr>
        <p:spPr>
          <a:xfrm>
            <a:off x="3337560" y="1600200"/>
            <a:ext cx="4572000" cy="658368"/>
          </a:xfrm>
          <a:prstGeom prst="rect">
            <a:avLst/>
          </a:prstGeom>
          <a:noFill/>
        </p:spPr>
        <p:txBody>
          <a:bodyPr wrap="square">
            <a:spAutoFit/>
          </a:bodyPr>
          <a:lstStyle/>
          <a:p>
            <a:pPr algn="l"/>
            <a:r>
              <a:rPr sz="1100" b="0" i="0">
                <a:solidFill>
                  <a:srgbClr val="8888A0"/>
                </a:solidFill>
                <a:latin typeface="Calibri"/>
              </a:rPr>
              <a:t>Align on leadership intent, operating model, role clarity, and what can safely be taken to Adobe.</a:t>
            </a:r>
          </a:p>
        </p:txBody>
      </p:sp>
      <p:sp>
        <p:nvSpPr>
          <p:cNvPr id="8" name="TextBox 7"/>
          <p:cNvSpPr txBox="1"/>
          <p:nvPr/>
        </p:nvSpPr>
        <p:spPr>
          <a:xfrm>
            <a:off x="7955279" y="1600200"/>
            <a:ext cx="3931920" cy="658368"/>
          </a:xfrm>
          <a:prstGeom prst="rect">
            <a:avLst/>
          </a:prstGeom>
          <a:noFill/>
        </p:spPr>
        <p:txBody>
          <a:bodyPr wrap="square">
            <a:spAutoFit/>
          </a:bodyPr>
          <a:lstStyle/>
          <a:p>
            <a:pPr algn="l"/>
            <a:r>
              <a:rPr sz="1100" b="0" i="0">
                <a:solidFill>
                  <a:srgbClr val="8888A0"/>
                </a:solidFill>
                <a:latin typeface="Calibri"/>
              </a:rPr>
              <a:t>Internal leadership narrative and decision list.</a:t>
            </a:r>
          </a:p>
        </p:txBody>
      </p:sp>
      <p:sp>
        <p:nvSpPr>
          <p:cNvPr id="9" name="Rectangle 8"/>
          <p:cNvSpPr/>
          <p:nvPr/>
        </p:nvSpPr>
        <p:spPr>
          <a:xfrm>
            <a:off x="548640" y="2185416"/>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58568"/>
            <a:ext cx="457200" cy="658368"/>
          </a:xfrm>
          <a:prstGeom prst="rect">
            <a:avLst/>
          </a:prstGeom>
          <a:noFill/>
        </p:spPr>
        <p:txBody>
          <a:bodyPr wrap="square">
            <a:spAutoFit/>
          </a:bodyPr>
          <a:lstStyle/>
          <a:p>
            <a:pPr algn="l"/>
            <a:r>
              <a:rPr sz="1200" b="1" i="0">
                <a:solidFill>
                  <a:srgbClr val="F0F0F2"/>
                </a:solidFill>
                <a:latin typeface="Calibri"/>
              </a:rPr>
              <a:t>1B</a:t>
            </a:r>
          </a:p>
        </p:txBody>
      </p:sp>
      <p:sp>
        <p:nvSpPr>
          <p:cNvPr id="11" name="TextBox 10"/>
          <p:cNvSpPr txBox="1"/>
          <p:nvPr/>
        </p:nvSpPr>
        <p:spPr>
          <a:xfrm>
            <a:off x="1005840" y="2258568"/>
            <a:ext cx="2286000" cy="658368"/>
          </a:xfrm>
          <a:prstGeom prst="rect">
            <a:avLst/>
          </a:prstGeom>
          <a:noFill/>
        </p:spPr>
        <p:txBody>
          <a:bodyPr wrap="square">
            <a:spAutoFit/>
          </a:bodyPr>
          <a:lstStyle/>
          <a:p>
            <a:pPr algn="l"/>
            <a:r>
              <a:rPr sz="1100" b="1" i="0">
                <a:solidFill>
                  <a:srgbClr val="F0F0F2"/>
                </a:solidFill>
                <a:latin typeface="Calibri"/>
              </a:rPr>
              <a:t>Mark Oben-Pepra</a:t>
            </a:r>
          </a:p>
        </p:txBody>
      </p:sp>
      <p:sp>
        <p:nvSpPr>
          <p:cNvPr id="12" name="TextBox 11"/>
          <p:cNvSpPr txBox="1"/>
          <p:nvPr/>
        </p:nvSpPr>
        <p:spPr>
          <a:xfrm>
            <a:off x="3337560" y="2258568"/>
            <a:ext cx="4572000" cy="658368"/>
          </a:xfrm>
          <a:prstGeom prst="rect">
            <a:avLst/>
          </a:prstGeom>
          <a:noFill/>
        </p:spPr>
        <p:txBody>
          <a:bodyPr wrap="square">
            <a:spAutoFit/>
          </a:bodyPr>
          <a:lstStyle/>
          <a:p>
            <a:pPr algn="l"/>
            <a:r>
              <a:rPr sz="1100" b="0" i="0">
                <a:solidFill>
                  <a:srgbClr val="8888A0"/>
                </a:solidFill>
                <a:latin typeface="Calibri"/>
              </a:rPr>
              <a:t>Align global account leadership and fee negotiation track before client-facing narrative advances.</a:t>
            </a:r>
          </a:p>
        </p:txBody>
      </p:sp>
      <p:sp>
        <p:nvSpPr>
          <p:cNvPr id="13" name="TextBox 12"/>
          <p:cNvSpPr txBox="1"/>
          <p:nvPr/>
        </p:nvSpPr>
        <p:spPr>
          <a:xfrm>
            <a:off x="7955279" y="2258568"/>
            <a:ext cx="3931920" cy="658368"/>
          </a:xfrm>
          <a:prstGeom prst="rect">
            <a:avLst/>
          </a:prstGeom>
          <a:noFill/>
        </p:spPr>
        <p:txBody>
          <a:bodyPr wrap="square">
            <a:spAutoFit/>
          </a:bodyPr>
          <a:lstStyle/>
          <a:p>
            <a:pPr algn="l"/>
            <a:r>
              <a:rPr sz="1100" b="0" i="0">
                <a:solidFill>
                  <a:srgbClr val="8888A0"/>
                </a:solidFill>
                <a:latin typeface="Calibri"/>
              </a:rPr>
              <a:t>MOP briefing note and commercial implications summary.</a:t>
            </a:r>
          </a:p>
        </p:txBody>
      </p:sp>
      <p:sp>
        <p:nvSpPr>
          <p:cNvPr id="14" name="Rectangle 13"/>
          <p:cNvSpPr/>
          <p:nvPr/>
        </p:nvSpPr>
        <p:spPr>
          <a:xfrm>
            <a:off x="548640" y="2843784"/>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916936"/>
            <a:ext cx="457200" cy="658368"/>
          </a:xfrm>
          <a:prstGeom prst="rect">
            <a:avLst/>
          </a:prstGeom>
          <a:noFill/>
        </p:spPr>
        <p:txBody>
          <a:bodyPr wrap="square">
            <a:spAutoFit/>
          </a:bodyPr>
          <a:lstStyle/>
          <a:p>
            <a:pPr algn="l"/>
            <a:r>
              <a:rPr sz="1200" b="1" i="0">
                <a:solidFill>
                  <a:srgbClr val="F0F0F2"/>
                </a:solidFill>
                <a:latin typeface="Calibri"/>
              </a:rPr>
              <a:t>2</a:t>
            </a:r>
          </a:p>
        </p:txBody>
      </p:sp>
      <p:sp>
        <p:nvSpPr>
          <p:cNvPr id="16" name="TextBox 15"/>
          <p:cNvSpPr txBox="1"/>
          <p:nvPr/>
        </p:nvSpPr>
        <p:spPr>
          <a:xfrm>
            <a:off x="1005840" y="2916936"/>
            <a:ext cx="2286000" cy="658368"/>
          </a:xfrm>
          <a:prstGeom prst="rect">
            <a:avLst/>
          </a:prstGeom>
          <a:noFill/>
        </p:spPr>
        <p:txBody>
          <a:bodyPr wrap="square">
            <a:spAutoFit/>
          </a:bodyPr>
          <a:lstStyle/>
          <a:p>
            <a:pPr algn="l"/>
            <a:r>
              <a:rPr sz="1100" b="1" i="0">
                <a:solidFill>
                  <a:srgbClr val="F0F0F2"/>
                </a:solidFill>
                <a:latin typeface="Calibri"/>
              </a:rPr>
              <a:t>Will Leung &amp; Pete Nagy</a:t>
            </a:r>
          </a:p>
        </p:txBody>
      </p:sp>
      <p:sp>
        <p:nvSpPr>
          <p:cNvPr id="17" name="TextBox 16"/>
          <p:cNvSpPr txBox="1"/>
          <p:nvPr/>
        </p:nvSpPr>
        <p:spPr>
          <a:xfrm>
            <a:off x="3337560" y="2916936"/>
            <a:ext cx="4572000" cy="658368"/>
          </a:xfrm>
          <a:prstGeom prst="rect">
            <a:avLst/>
          </a:prstGeom>
          <a:noFill/>
        </p:spPr>
        <p:txBody>
          <a:bodyPr wrap="square">
            <a:spAutoFit/>
          </a:bodyPr>
          <a:lstStyle/>
          <a:p>
            <a:pPr algn="l"/>
            <a:r>
              <a:rPr sz="1100" b="0" i="0">
                <a:solidFill>
                  <a:srgbClr val="8888A0"/>
                </a:solidFill>
                <a:latin typeface="Calibri"/>
              </a:rPr>
              <a:t>Test and align the client-facing account vision, SOW implications, two-in-a-box model, renewal priorities.</a:t>
            </a:r>
          </a:p>
        </p:txBody>
      </p:sp>
      <p:sp>
        <p:nvSpPr>
          <p:cNvPr id="18" name="TextBox 17"/>
          <p:cNvSpPr txBox="1"/>
          <p:nvPr/>
        </p:nvSpPr>
        <p:spPr>
          <a:xfrm>
            <a:off x="7955279" y="2916936"/>
            <a:ext cx="3931920" cy="658368"/>
          </a:xfrm>
          <a:prstGeom prst="rect">
            <a:avLst/>
          </a:prstGeom>
          <a:noFill/>
        </p:spPr>
        <p:txBody>
          <a:bodyPr wrap="square">
            <a:spAutoFit/>
          </a:bodyPr>
          <a:lstStyle/>
          <a:p>
            <a:pPr algn="l"/>
            <a:r>
              <a:rPr sz="1100" b="0" i="0">
                <a:solidFill>
                  <a:srgbClr val="8888A0"/>
                </a:solidFill>
                <a:latin typeface="Calibri"/>
              </a:rPr>
              <a:t>Adobe-facing strategic narrative and scope discussion pack.</a:t>
            </a:r>
          </a:p>
        </p:txBody>
      </p:sp>
      <p:sp>
        <p:nvSpPr>
          <p:cNvPr id="19" name="Rectangle 18"/>
          <p:cNvSpPr/>
          <p:nvPr/>
        </p:nvSpPr>
        <p:spPr>
          <a:xfrm>
            <a:off x="548640" y="3502152"/>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575304"/>
            <a:ext cx="457200" cy="658368"/>
          </a:xfrm>
          <a:prstGeom prst="rect">
            <a:avLst/>
          </a:prstGeom>
          <a:noFill/>
        </p:spPr>
        <p:txBody>
          <a:bodyPr wrap="square">
            <a:spAutoFit/>
          </a:bodyPr>
          <a:lstStyle/>
          <a:p>
            <a:pPr algn="l"/>
            <a:r>
              <a:rPr sz="1200" b="1" i="0">
                <a:solidFill>
                  <a:srgbClr val="F0F0F2"/>
                </a:solidFill>
                <a:latin typeface="Calibri"/>
              </a:rPr>
              <a:t>3</a:t>
            </a:r>
          </a:p>
        </p:txBody>
      </p:sp>
      <p:sp>
        <p:nvSpPr>
          <p:cNvPr id="21" name="TextBox 20"/>
          <p:cNvSpPr txBox="1"/>
          <p:nvPr/>
        </p:nvSpPr>
        <p:spPr>
          <a:xfrm>
            <a:off x="1005840" y="3575304"/>
            <a:ext cx="2286000" cy="658368"/>
          </a:xfrm>
          <a:prstGeom prst="rect">
            <a:avLst/>
          </a:prstGeom>
          <a:noFill/>
        </p:spPr>
        <p:txBody>
          <a:bodyPr wrap="square">
            <a:spAutoFit/>
          </a:bodyPr>
          <a:lstStyle/>
          <a:p>
            <a:pPr algn="l"/>
            <a:r>
              <a:rPr sz="1100" b="1" i="0">
                <a:solidFill>
                  <a:srgbClr val="F0F0F2"/>
                </a:solidFill>
                <a:latin typeface="Calibri"/>
              </a:rPr>
              <a:t>Discipline Leads</a:t>
            </a:r>
          </a:p>
        </p:txBody>
      </p:sp>
      <p:sp>
        <p:nvSpPr>
          <p:cNvPr id="22" name="TextBox 21"/>
          <p:cNvSpPr txBox="1"/>
          <p:nvPr/>
        </p:nvSpPr>
        <p:spPr>
          <a:xfrm>
            <a:off x="3337560" y="3575304"/>
            <a:ext cx="4572000" cy="658368"/>
          </a:xfrm>
          <a:prstGeom prst="rect">
            <a:avLst/>
          </a:prstGeom>
          <a:noFill/>
        </p:spPr>
        <p:txBody>
          <a:bodyPr wrap="square">
            <a:spAutoFit/>
          </a:bodyPr>
          <a:lstStyle/>
          <a:p>
            <a:pPr algn="l"/>
            <a:r>
              <a:rPr sz="1100" b="0" i="0">
                <a:solidFill>
                  <a:srgbClr val="8888A0"/>
                </a:solidFill>
                <a:latin typeface="Calibri"/>
              </a:rPr>
              <a:t>Convert the vision into owned workstreams for Strategy, Planning, Operations, Activation, D&amp;A.</a:t>
            </a:r>
          </a:p>
        </p:txBody>
      </p:sp>
      <p:sp>
        <p:nvSpPr>
          <p:cNvPr id="23" name="TextBox 22"/>
          <p:cNvSpPr txBox="1"/>
          <p:nvPr/>
        </p:nvSpPr>
        <p:spPr>
          <a:xfrm>
            <a:off x="7955279" y="3575304"/>
            <a:ext cx="3931920" cy="658368"/>
          </a:xfrm>
          <a:prstGeom prst="rect">
            <a:avLst/>
          </a:prstGeom>
          <a:noFill/>
        </p:spPr>
        <p:txBody>
          <a:bodyPr wrap="square">
            <a:spAutoFit/>
          </a:bodyPr>
          <a:lstStyle/>
          <a:p>
            <a:pPr algn="l"/>
            <a:r>
              <a:rPr sz="1100" b="0" i="0">
                <a:solidFill>
                  <a:srgbClr val="8888A0"/>
                </a:solidFill>
                <a:latin typeface="Calibri"/>
              </a:rPr>
              <a:t>30/60/90 and 3-year workstream briefs by discipline.</a:t>
            </a:r>
          </a:p>
        </p:txBody>
      </p:sp>
      <p:sp>
        <p:nvSpPr>
          <p:cNvPr id="24" name="Rectangle 23"/>
          <p:cNvSpPr/>
          <p:nvPr/>
        </p:nvSpPr>
        <p:spPr>
          <a:xfrm>
            <a:off x="548640" y="41605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233672"/>
            <a:ext cx="457200" cy="658368"/>
          </a:xfrm>
          <a:prstGeom prst="rect">
            <a:avLst/>
          </a:prstGeom>
          <a:noFill/>
        </p:spPr>
        <p:txBody>
          <a:bodyPr wrap="square">
            <a:spAutoFit/>
          </a:bodyPr>
          <a:lstStyle/>
          <a:p>
            <a:pPr algn="l"/>
            <a:r>
              <a:rPr sz="1200" b="1" i="0">
                <a:solidFill>
                  <a:srgbClr val="F0F0F2"/>
                </a:solidFill>
                <a:latin typeface="Calibri"/>
              </a:rPr>
              <a:t>4</a:t>
            </a:r>
          </a:p>
        </p:txBody>
      </p:sp>
      <p:sp>
        <p:nvSpPr>
          <p:cNvPr id="26" name="TextBox 25"/>
          <p:cNvSpPr txBox="1"/>
          <p:nvPr/>
        </p:nvSpPr>
        <p:spPr>
          <a:xfrm>
            <a:off x="1005840" y="4233672"/>
            <a:ext cx="2286000" cy="658368"/>
          </a:xfrm>
          <a:prstGeom prst="rect">
            <a:avLst/>
          </a:prstGeom>
          <a:noFill/>
        </p:spPr>
        <p:txBody>
          <a:bodyPr wrap="square">
            <a:spAutoFit/>
          </a:bodyPr>
          <a:lstStyle/>
          <a:p>
            <a:pPr algn="l"/>
            <a:r>
              <a:rPr sz="1100" b="1" i="0">
                <a:solidFill>
                  <a:srgbClr val="F0F0F2"/>
                </a:solidFill>
                <a:latin typeface="Calibri"/>
              </a:rPr>
              <a:t>Internal All-Hands</a:t>
            </a:r>
          </a:p>
        </p:txBody>
      </p:sp>
      <p:sp>
        <p:nvSpPr>
          <p:cNvPr id="27" name="TextBox 26"/>
          <p:cNvSpPr txBox="1"/>
          <p:nvPr/>
        </p:nvSpPr>
        <p:spPr>
          <a:xfrm>
            <a:off x="3337560" y="4233672"/>
            <a:ext cx="4572000" cy="658368"/>
          </a:xfrm>
          <a:prstGeom prst="rect">
            <a:avLst/>
          </a:prstGeom>
          <a:noFill/>
        </p:spPr>
        <p:txBody>
          <a:bodyPr wrap="square">
            <a:spAutoFit/>
          </a:bodyPr>
          <a:lstStyle/>
          <a:p>
            <a:pPr algn="l"/>
            <a:r>
              <a:rPr sz="1100" b="0" i="0">
                <a:solidFill>
                  <a:srgbClr val="8888A0"/>
                </a:solidFill>
                <a:latin typeface="Calibri"/>
              </a:rPr>
              <a:t>Launch account culture, operating principles, rituals, and expectations across the Adobe.pub team.</a:t>
            </a:r>
          </a:p>
        </p:txBody>
      </p:sp>
      <p:sp>
        <p:nvSpPr>
          <p:cNvPr id="28" name="TextBox 27"/>
          <p:cNvSpPr txBox="1"/>
          <p:nvPr/>
        </p:nvSpPr>
        <p:spPr>
          <a:xfrm>
            <a:off x="7955279" y="4233672"/>
            <a:ext cx="3931920" cy="658368"/>
          </a:xfrm>
          <a:prstGeom prst="rect">
            <a:avLst/>
          </a:prstGeom>
          <a:noFill/>
        </p:spPr>
        <p:txBody>
          <a:bodyPr wrap="square">
            <a:spAutoFit/>
          </a:bodyPr>
          <a:lstStyle/>
          <a:p>
            <a:pPr algn="l"/>
            <a:r>
              <a:rPr sz="1100" b="0" i="0">
                <a:solidFill>
                  <a:srgbClr val="8888A0"/>
                </a:solidFill>
                <a:latin typeface="Calibri"/>
              </a:rPr>
              <a:t>Team launch pack and operating playbook.</a:t>
            </a:r>
          </a:p>
        </p:txBody>
      </p:sp>
      <p:sp>
        <p:nvSpPr>
          <p:cNvPr id="29" name="Rectangle 28"/>
          <p:cNvSpPr/>
          <p:nvPr/>
        </p:nvSpPr>
        <p:spPr>
          <a:xfrm>
            <a:off x="548640" y="4818888"/>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4892040"/>
            <a:ext cx="457200" cy="658368"/>
          </a:xfrm>
          <a:prstGeom prst="rect">
            <a:avLst/>
          </a:prstGeom>
          <a:noFill/>
        </p:spPr>
        <p:txBody>
          <a:bodyPr wrap="square">
            <a:spAutoFit/>
          </a:bodyPr>
          <a:lstStyle/>
          <a:p>
            <a:pPr algn="l"/>
            <a:r>
              <a:rPr sz="1200" b="1" i="0">
                <a:solidFill>
                  <a:srgbClr val="F0F0F2"/>
                </a:solidFill>
                <a:latin typeface="Calibri"/>
              </a:rPr>
              <a:t>5</a:t>
            </a:r>
          </a:p>
        </p:txBody>
      </p:sp>
      <p:sp>
        <p:nvSpPr>
          <p:cNvPr id="31" name="TextBox 30"/>
          <p:cNvSpPr txBox="1"/>
          <p:nvPr/>
        </p:nvSpPr>
        <p:spPr>
          <a:xfrm>
            <a:off x="1005840" y="4892040"/>
            <a:ext cx="2286000" cy="658368"/>
          </a:xfrm>
          <a:prstGeom prst="rect">
            <a:avLst/>
          </a:prstGeom>
          <a:noFill/>
        </p:spPr>
        <p:txBody>
          <a:bodyPr wrap="square">
            <a:spAutoFit/>
          </a:bodyPr>
          <a:lstStyle/>
          <a:p>
            <a:pPr algn="l"/>
            <a:r>
              <a:rPr sz="1100" b="1" i="0">
                <a:solidFill>
                  <a:srgbClr val="F0F0F2"/>
                </a:solidFill>
                <a:latin typeface="Calibri"/>
              </a:rPr>
              <a:t>Broader Adobe Audience</a:t>
            </a:r>
          </a:p>
        </p:txBody>
      </p:sp>
      <p:sp>
        <p:nvSpPr>
          <p:cNvPr id="32" name="TextBox 31"/>
          <p:cNvSpPr txBox="1"/>
          <p:nvPr/>
        </p:nvSpPr>
        <p:spPr>
          <a:xfrm>
            <a:off x="3337560" y="4892040"/>
            <a:ext cx="4572000" cy="658368"/>
          </a:xfrm>
          <a:prstGeom prst="rect">
            <a:avLst/>
          </a:prstGeom>
          <a:noFill/>
        </p:spPr>
        <p:txBody>
          <a:bodyPr wrap="square">
            <a:spAutoFit/>
          </a:bodyPr>
          <a:lstStyle/>
          <a:p>
            <a:pPr algn="l"/>
            <a:r>
              <a:rPr sz="1100" b="0" i="0">
                <a:solidFill>
                  <a:srgbClr val="8888A0"/>
                </a:solidFill>
                <a:latin typeface="Calibri"/>
              </a:rPr>
              <a:t>Publish selected, non-commercial elements that build confidence in the new model.</a:t>
            </a:r>
          </a:p>
        </p:txBody>
      </p:sp>
      <p:sp>
        <p:nvSpPr>
          <p:cNvPr id="33" name="TextBox 32"/>
          <p:cNvSpPr txBox="1"/>
          <p:nvPr/>
        </p:nvSpPr>
        <p:spPr>
          <a:xfrm>
            <a:off x="7955279" y="4892040"/>
            <a:ext cx="3931920" cy="658368"/>
          </a:xfrm>
          <a:prstGeom prst="rect">
            <a:avLst/>
          </a:prstGeom>
          <a:noFill/>
        </p:spPr>
        <p:txBody>
          <a:bodyPr wrap="square">
            <a:spAutoFit/>
          </a:bodyPr>
          <a:lstStyle/>
          <a:p>
            <a:pPr algn="l"/>
            <a:r>
              <a:rPr sz="1100" b="0" i="0">
                <a:solidFill>
                  <a:srgbClr val="8888A0"/>
                </a:solidFill>
                <a:latin typeface="Calibri"/>
              </a:rPr>
              <a:t>Adobe-facing summary of ways of working, governance, and value commitments.</a:t>
            </a:r>
          </a:p>
        </p:txBody>
      </p:sp>
      <p:sp>
        <p:nvSpPr>
          <p:cNvPr id="34" name="Rectangle 33"/>
          <p:cNvSpPr/>
          <p:nvPr/>
        </p:nvSpPr>
        <p:spPr>
          <a:xfrm>
            <a:off x="548640" y="5477256"/>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a:spAutoFit/>
          </a:bodyPr>
          <a:lstStyle/>
          <a:p>
            <a:pPr algn="l"/>
            <a:r>
              <a:rPr sz="900" b="1" i="0">
                <a:solidFill>
                  <a:srgbClr val="EB1000"/>
                </a:solidFill>
                <a:latin typeface="Calibri"/>
              </a:rPr>
              <a:t>30 / 60 / 90 DAY PLAN  ·  PEOPLE LANE</a:t>
            </a:r>
          </a:p>
        </p:txBody>
      </p:sp>
      <p:sp>
        <p:nvSpPr>
          <p:cNvPr id="3" name="TextBox 2"/>
          <p:cNvSpPr txBox="1"/>
          <p:nvPr/>
        </p:nvSpPr>
        <p:spPr>
          <a:xfrm>
            <a:off x="548640" y="777240"/>
            <a:ext cx="9144000" cy="640080"/>
          </a:xfrm>
          <a:prstGeom prst="rect">
            <a:avLst/>
          </a:prstGeom>
          <a:noFill/>
        </p:spPr>
        <p:txBody>
          <a:bodyPr wrap="square">
            <a:spAutoFit/>
          </a:bodyPr>
          <a:lstStyle/>
          <a:p>
            <a:pPr algn="l"/>
            <a:r>
              <a:rPr sz="3200" b="1" i="0">
                <a:solidFill>
                  <a:srgbClr val="F0F0F2"/>
                </a:solidFill>
                <a:latin typeface="Calibri"/>
              </a:rPr>
              <a:t>Culture &amp; Destination</a:t>
            </a:r>
          </a:p>
        </p:txBody>
      </p:sp>
      <p:sp>
        <p:nvSpPr>
          <p:cNvPr id="4" name="Rectangle 3"/>
          <p:cNvSpPr/>
          <p:nvPr/>
        </p:nvSpPr>
        <p:spPr>
          <a:xfrm>
            <a:off x="548640" y="14173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600200"/>
            <a:ext cx="5303520" cy="493776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5029200" cy="365760"/>
          </a:xfrm>
          <a:prstGeom prst="rect">
            <a:avLst/>
          </a:prstGeom>
          <a:noFill/>
        </p:spPr>
        <p:txBody>
          <a:bodyPr wrap="square">
            <a:spAutoFit/>
          </a:bodyPr>
          <a:lstStyle/>
          <a:p>
            <a:pPr algn="l"/>
            <a:r>
              <a:rPr sz="1000" b="1" i="0">
                <a:solidFill>
                  <a:srgbClr val="F0F0F2"/>
                </a:solidFill>
                <a:latin typeface="Calibri"/>
              </a:rPr>
              <a:t>ORGANISATIONAL DESIGN</a:t>
            </a:r>
          </a:p>
        </p:txBody>
      </p:sp>
      <p:sp>
        <p:nvSpPr>
          <p:cNvPr id="7" name="TextBox 6"/>
          <p:cNvSpPr txBox="1"/>
          <p:nvPr/>
        </p:nvSpPr>
        <p:spPr>
          <a:xfrm>
            <a:off x="685800" y="2286000"/>
            <a:ext cx="5029200" cy="274320"/>
          </a:xfrm>
          <a:prstGeom prst="rect">
            <a:avLst/>
          </a:prstGeom>
          <a:noFill/>
        </p:spPr>
        <p:txBody>
          <a:bodyPr wrap="square">
            <a:spAutoFit/>
          </a:bodyPr>
          <a:lstStyle/>
          <a:p>
            <a:pPr algn="l"/>
            <a:r>
              <a:rPr sz="900" b="1" i="0">
                <a:solidFill>
                  <a:srgbClr val="D4A840"/>
                </a:solidFill>
                <a:latin typeface="Calibri"/>
              </a:rPr>
              <a:t>30 DAYS</a:t>
            </a:r>
          </a:p>
        </p:txBody>
      </p:sp>
      <p:sp>
        <p:nvSpPr>
          <p:cNvPr id="8" name="TextBox 7"/>
          <p:cNvSpPr txBox="1"/>
          <p:nvPr/>
        </p:nvSpPr>
        <p:spPr>
          <a:xfrm>
            <a:off x="685800" y="2560320"/>
            <a:ext cx="5029200" cy="777240"/>
          </a:xfrm>
          <a:prstGeom prst="rect">
            <a:avLst/>
          </a:prstGeom>
          <a:noFill/>
        </p:spPr>
        <p:txBody>
          <a:bodyPr wrap="square">
            <a:spAutoFit/>
          </a:bodyPr>
          <a:lstStyle/>
          <a:p>
            <a:pPr algn="l"/>
            <a:r>
              <a:rPr sz="1200" b="0" i="0">
                <a:solidFill>
                  <a:srgbClr val="8888A0"/>
                </a:solidFill>
                <a:latin typeface="Calibri"/>
              </a:rPr>
              <a:t>Map markets to SOW, contracted scope to team capacity, gaps, duplications, and unclear commercial arrangements.</a:t>
            </a:r>
          </a:p>
        </p:txBody>
      </p:sp>
      <p:sp>
        <p:nvSpPr>
          <p:cNvPr id="9" name="TextBox 8"/>
          <p:cNvSpPr txBox="1"/>
          <p:nvPr/>
        </p:nvSpPr>
        <p:spPr>
          <a:xfrm>
            <a:off x="685800" y="3429000"/>
            <a:ext cx="5029200" cy="274320"/>
          </a:xfrm>
          <a:prstGeom prst="rect">
            <a:avLst/>
          </a:prstGeom>
          <a:noFill/>
        </p:spPr>
        <p:txBody>
          <a:bodyPr wrap="square">
            <a:spAutoFit/>
          </a:bodyPr>
          <a:lstStyle/>
          <a:p>
            <a:pPr algn="l"/>
            <a:r>
              <a:rPr sz="900" b="1" i="0">
                <a:solidFill>
                  <a:srgbClr val="D4A840"/>
                </a:solidFill>
                <a:latin typeface="Calibri"/>
              </a:rPr>
              <a:t>60 DAYS</a:t>
            </a:r>
          </a:p>
        </p:txBody>
      </p:sp>
      <p:sp>
        <p:nvSpPr>
          <p:cNvPr id="10" name="TextBox 9"/>
          <p:cNvSpPr txBox="1"/>
          <p:nvPr/>
        </p:nvSpPr>
        <p:spPr>
          <a:xfrm>
            <a:off x="685800" y="3703320"/>
            <a:ext cx="5029200" cy="777240"/>
          </a:xfrm>
          <a:prstGeom prst="rect">
            <a:avLst/>
          </a:prstGeom>
          <a:noFill/>
        </p:spPr>
        <p:txBody>
          <a:bodyPr wrap="square">
            <a:spAutoFit/>
          </a:bodyPr>
          <a:lstStyle/>
          <a:p>
            <a:pPr algn="l"/>
            <a:r>
              <a:rPr sz="1200" b="0" i="0">
                <a:solidFill>
                  <a:srgbClr val="8888A0"/>
                </a:solidFill>
                <a:latin typeface="Calibri"/>
              </a:rPr>
              <a:t>Finalise 2–3 org design scenarios with cost implications by market, co-designed with Jonny and Pete.</a:t>
            </a:r>
          </a:p>
        </p:txBody>
      </p:sp>
      <p:sp>
        <p:nvSpPr>
          <p:cNvPr id="11" name="TextBox 10"/>
          <p:cNvSpPr txBox="1"/>
          <p:nvPr/>
        </p:nvSpPr>
        <p:spPr>
          <a:xfrm>
            <a:off x="685800" y="4572000"/>
            <a:ext cx="5029200" cy="274320"/>
          </a:xfrm>
          <a:prstGeom prst="rect">
            <a:avLst/>
          </a:prstGeom>
          <a:noFill/>
        </p:spPr>
        <p:txBody>
          <a:bodyPr wrap="square">
            <a:spAutoFit/>
          </a:bodyPr>
          <a:lstStyle/>
          <a:p>
            <a:pPr algn="l"/>
            <a:r>
              <a:rPr sz="900" b="1" i="0">
                <a:solidFill>
                  <a:srgbClr val="D4A840"/>
                </a:solidFill>
                <a:latin typeface="Calibri"/>
              </a:rPr>
              <a:t>90 DAYS</a:t>
            </a:r>
          </a:p>
        </p:txBody>
      </p:sp>
      <p:sp>
        <p:nvSpPr>
          <p:cNvPr id="12" name="TextBox 11"/>
          <p:cNvSpPr txBox="1"/>
          <p:nvPr/>
        </p:nvSpPr>
        <p:spPr>
          <a:xfrm>
            <a:off x="685800" y="4846320"/>
            <a:ext cx="5029200" cy="777240"/>
          </a:xfrm>
          <a:prstGeom prst="rect">
            <a:avLst/>
          </a:prstGeom>
          <a:noFill/>
        </p:spPr>
        <p:txBody>
          <a:bodyPr wrap="square">
            <a:spAutoFit/>
          </a:bodyPr>
          <a:lstStyle/>
          <a:p>
            <a:pPr algn="l"/>
            <a:r>
              <a:rPr sz="1200" b="0" i="0">
                <a:solidFill>
                  <a:srgbClr val="8888A0"/>
                </a:solidFill>
                <a:latin typeface="Calibri"/>
              </a:rPr>
              <a:t>Lock the team model, communicate across all markets, confirm flexible resourcing for Philippines and Indonesia, codify into renewal terms.</a:t>
            </a:r>
          </a:p>
        </p:txBody>
      </p:sp>
      <p:sp>
        <p:nvSpPr>
          <p:cNvPr id="13" name="Rectangle 12"/>
          <p:cNvSpPr/>
          <p:nvPr/>
        </p:nvSpPr>
        <p:spPr>
          <a:xfrm>
            <a:off x="5989320" y="1600200"/>
            <a:ext cx="5303520" cy="493776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1783080"/>
            <a:ext cx="5029200" cy="365760"/>
          </a:xfrm>
          <a:prstGeom prst="rect">
            <a:avLst/>
          </a:prstGeom>
          <a:noFill/>
        </p:spPr>
        <p:txBody>
          <a:bodyPr wrap="square">
            <a:spAutoFit/>
          </a:bodyPr>
          <a:lstStyle/>
          <a:p>
            <a:pPr algn="l"/>
            <a:r>
              <a:rPr sz="1000" b="1" i="0">
                <a:solidFill>
                  <a:srgbClr val="F0F0F2"/>
                </a:solidFill>
                <a:latin typeface="Calibri"/>
              </a:rPr>
              <a:t>CONTACT MAPPING</a:t>
            </a:r>
          </a:p>
        </p:txBody>
      </p:sp>
      <p:sp>
        <p:nvSpPr>
          <p:cNvPr id="15" name="TextBox 14"/>
          <p:cNvSpPr txBox="1"/>
          <p:nvPr/>
        </p:nvSpPr>
        <p:spPr>
          <a:xfrm>
            <a:off x="6172200" y="2286000"/>
            <a:ext cx="5029200" cy="274320"/>
          </a:xfrm>
          <a:prstGeom prst="rect">
            <a:avLst/>
          </a:prstGeom>
          <a:noFill/>
        </p:spPr>
        <p:txBody>
          <a:bodyPr wrap="square">
            <a:spAutoFit/>
          </a:bodyPr>
          <a:lstStyle/>
          <a:p>
            <a:pPr algn="l"/>
            <a:r>
              <a:rPr sz="900" b="1" i="0">
                <a:solidFill>
                  <a:srgbClr val="D4A840"/>
                </a:solidFill>
                <a:latin typeface="Calibri"/>
              </a:rPr>
              <a:t>30 DAYS</a:t>
            </a:r>
          </a:p>
        </p:txBody>
      </p:sp>
      <p:sp>
        <p:nvSpPr>
          <p:cNvPr id="16" name="TextBox 15"/>
          <p:cNvSpPr txBox="1"/>
          <p:nvPr/>
        </p:nvSpPr>
        <p:spPr>
          <a:xfrm>
            <a:off x="6172200" y="2560320"/>
            <a:ext cx="5029200" cy="777240"/>
          </a:xfrm>
          <a:prstGeom prst="rect">
            <a:avLst/>
          </a:prstGeom>
          <a:noFill/>
        </p:spPr>
        <p:txBody>
          <a:bodyPr wrap="square">
            <a:spAutoFit/>
          </a:bodyPr>
          <a:lstStyle/>
          <a:p>
            <a:pPr algn="l"/>
            <a:r>
              <a:rPr sz="1200" b="0" i="0">
                <a:solidFill>
                  <a:srgbClr val="8888A0"/>
                </a:solidFill>
                <a:latin typeface="Calibri"/>
              </a:rPr>
              <a:t>Draft the two-in-a-box model: map each Zenith lead to an Adobe counterpart by market, with cadence, channels, and escalation protocol.</a:t>
            </a:r>
          </a:p>
        </p:txBody>
      </p:sp>
      <p:sp>
        <p:nvSpPr>
          <p:cNvPr id="17" name="TextBox 16"/>
          <p:cNvSpPr txBox="1"/>
          <p:nvPr/>
        </p:nvSpPr>
        <p:spPr>
          <a:xfrm>
            <a:off x="6172200" y="3429000"/>
            <a:ext cx="5029200" cy="274320"/>
          </a:xfrm>
          <a:prstGeom prst="rect">
            <a:avLst/>
          </a:prstGeom>
          <a:noFill/>
        </p:spPr>
        <p:txBody>
          <a:bodyPr wrap="square">
            <a:spAutoFit/>
          </a:bodyPr>
          <a:lstStyle/>
          <a:p>
            <a:pPr algn="l"/>
            <a:r>
              <a:rPr sz="900" b="1" i="0">
                <a:solidFill>
                  <a:srgbClr val="D4A840"/>
                </a:solidFill>
                <a:latin typeface="Calibri"/>
              </a:rPr>
              <a:t>60 DAYS</a:t>
            </a:r>
          </a:p>
        </p:txBody>
      </p:sp>
      <p:sp>
        <p:nvSpPr>
          <p:cNvPr id="18" name="TextBox 17"/>
          <p:cNvSpPr txBox="1"/>
          <p:nvPr/>
        </p:nvSpPr>
        <p:spPr>
          <a:xfrm>
            <a:off x="6172200" y="3703320"/>
            <a:ext cx="5029200" cy="777240"/>
          </a:xfrm>
          <a:prstGeom prst="rect">
            <a:avLst/>
          </a:prstGeom>
          <a:noFill/>
        </p:spPr>
        <p:txBody>
          <a:bodyPr wrap="square">
            <a:spAutoFit/>
          </a:bodyPr>
          <a:lstStyle/>
          <a:p>
            <a:pPr algn="l"/>
            <a:r>
              <a:rPr sz="1200" b="0" i="0">
                <a:solidFill>
                  <a:srgbClr val="8888A0"/>
                </a:solidFill>
                <a:latin typeface="Calibri"/>
              </a:rPr>
              <a:t>Lock the engagement model with Adobe, including escalation thresholds and live recurring cadence across all pairings.</a:t>
            </a:r>
          </a:p>
        </p:txBody>
      </p:sp>
      <p:sp>
        <p:nvSpPr>
          <p:cNvPr id="19" name="TextBox 18"/>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a:spAutoFit/>
          </a:bodyPr>
          <a:lstStyle/>
          <a:p>
            <a:pPr algn="l"/>
            <a:r>
              <a:rPr sz="900" b="1" i="0">
                <a:solidFill>
                  <a:srgbClr val="EB1000"/>
                </a:solidFill>
                <a:latin typeface="Calibri"/>
              </a:rPr>
              <a:t>30 / 60 / 90 DAY PLAN  ·  CLIENT OPS LANE</a:t>
            </a:r>
          </a:p>
        </p:txBody>
      </p:sp>
      <p:sp>
        <p:nvSpPr>
          <p:cNvPr id="3" name="TextBox 2"/>
          <p:cNvSpPr txBox="1"/>
          <p:nvPr/>
        </p:nvSpPr>
        <p:spPr>
          <a:xfrm>
            <a:off x="548640" y="777240"/>
            <a:ext cx="9144000" cy="640080"/>
          </a:xfrm>
          <a:prstGeom prst="rect">
            <a:avLst/>
          </a:prstGeom>
          <a:noFill/>
        </p:spPr>
        <p:txBody>
          <a:bodyPr wrap="square">
            <a:spAutoFit/>
          </a:bodyPr>
          <a:lstStyle/>
          <a:p>
            <a:pPr algn="l"/>
            <a:r>
              <a:rPr sz="3200" b="1" i="0">
                <a:solidFill>
                  <a:srgbClr val="F0F0F2"/>
                </a:solidFill>
                <a:latin typeface="Calibri"/>
              </a:rPr>
              <a:t>Digital Excellence &amp; Adobe Power</a:t>
            </a:r>
          </a:p>
        </p:txBody>
      </p:sp>
      <p:sp>
        <p:nvSpPr>
          <p:cNvPr id="4" name="Rectangle 3"/>
          <p:cNvSpPr/>
          <p:nvPr/>
        </p:nvSpPr>
        <p:spPr>
          <a:xfrm>
            <a:off x="548640" y="14173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600200"/>
            <a:ext cx="5303520" cy="493776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5029200" cy="365760"/>
          </a:xfrm>
          <a:prstGeom prst="rect">
            <a:avLst/>
          </a:prstGeom>
          <a:noFill/>
        </p:spPr>
        <p:txBody>
          <a:bodyPr wrap="square">
            <a:spAutoFit/>
          </a:bodyPr>
          <a:lstStyle/>
          <a:p>
            <a:pPr algn="l"/>
            <a:r>
              <a:rPr sz="1000" b="1" i="0">
                <a:solidFill>
                  <a:srgbClr val="F0F0F2"/>
                </a:solidFill>
                <a:latin typeface="Calibri"/>
              </a:rPr>
              <a:t>ACCOUNT NARRATIVE</a:t>
            </a:r>
          </a:p>
        </p:txBody>
      </p:sp>
      <p:sp>
        <p:nvSpPr>
          <p:cNvPr id="7" name="TextBox 6"/>
          <p:cNvSpPr txBox="1"/>
          <p:nvPr/>
        </p:nvSpPr>
        <p:spPr>
          <a:xfrm>
            <a:off x="685800" y="2286000"/>
            <a:ext cx="5029200" cy="274320"/>
          </a:xfrm>
          <a:prstGeom prst="rect">
            <a:avLst/>
          </a:prstGeom>
          <a:noFill/>
        </p:spPr>
        <p:txBody>
          <a:bodyPr wrap="square">
            <a:spAutoFit/>
          </a:bodyPr>
          <a:lstStyle/>
          <a:p>
            <a:pPr algn="l"/>
            <a:r>
              <a:rPr sz="900" b="1" i="0">
                <a:solidFill>
                  <a:srgbClr val="5B9CF6"/>
                </a:solidFill>
                <a:latin typeface="Calibri"/>
              </a:rPr>
              <a:t>30 DAYS</a:t>
            </a:r>
          </a:p>
        </p:txBody>
      </p:sp>
      <p:sp>
        <p:nvSpPr>
          <p:cNvPr id="8" name="TextBox 7"/>
          <p:cNvSpPr txBox="1"/>
          <p:nvPr/>
        </p:nvSpPr>
        <p:spPr>
          <a:xfrm>
            <a:off x="685800" y="2560320"/>
            <a:ext cx="5029200" cy="822960"/>
          </a:xfrm>
          <a:prstGeom prst="rect">
            <a:avLst/>
          </a:prstGeom>
          <a:noFill/>
        </p:spPr>
        <p:txBody>
          <a:bodyPr wrap="square">
            <a:spAutoFit/>
          </a:bodyPr>
          <a:lstStyle/>
          <a:p>
            <a:pPr algn="l"/>
            <a:r>
              <a:rPr sz="1200" b="0" i="0">
                <a:solidFill>
                  <a:srgbClr val="8888A0"/>
                </a:solidFill>
                <a:latin typeface="Calibri"/>
              </a:rPr>
              <a:t>Build Narrative Deck v1 covering current state, future direction, and what brilliant looks like for Adobe APAC.</a:t>
            </a:r>
          </a:p>
        </p:txBody>
      </p:sp>
      <p:sp>
        <p:nvSpPr>
          <p:cNvPr id="9" name="TextBox 8"/>
          <p:cNvSpPr txBox="1"/>
          <p:nvPr/>
        </p:nvSpPr>
        <p:spPr>
          <a:xfrm>
            <a:off x="685800" y="3474720"/>
            <a:ext cx="5029200" cy="274320"/>
          </a:xfrm>
          <a:prstGeom prst="rect">
            <a:avLst/>
          </a:prstGeom>
          <a:noFill/>
        </p:spPr>
        <p:txBody>
          <a:bodyPr wrap="square">
            <a:spAutoFit/>
          </a:bodyPr>
          <a:lstStyle/>
          <a:p>
            <a:pPr algn="l"/>
            <a:r>
              <a:rPr sz="900" b="1" i="0">
                <a:solidFill>
                  <a:srgbClr val="5B9CF6"/>
                </a:solidFill>
                <a:latin typeface="Calibri"/>
              </a:rPr>
              <a:t>90 DAYS</a:t>
            </a:r>
          </a:p>
        </p:txBody>
      </p:sp>
      <p:sp>
        <p:nvSpPr>
          <p:cNvPr id="10" name="TextBox 9"/>
          <p:cNvSpPr txBox="1"/>
          <p:nvPr/>
        </p:nvSpPr>
        <p:spPr>
          <a:xfrm>
            <a:off x="685800" y="3749040"/>
            <a:ext cx="5029200" cy="822960"/>
          </a:xfrm>
          <a:prstGeom prst="rect">
            <a:avLst/>
          </a:prstGeom>
          <a:noFill/>
        </p:spPr>
        <p:txBody>
          <a:bodyPr wrap="square">
            <a:spAutoFit/>
          </a:bodyPr>
          <a:lstStyle/>
          <a:p>
            <a:pPr algn="l"/>
            <a:r>
              <a:rPr sz="1200" b="0" i="0">
                <a:solidFill>
                  <a:srgbClr val="8888A0"/>
                </a:solidFill>
                <a:latin typeface="Calibri"/>
              </a:rPr>
              <a:t>Deliver the first QBR in the new template, with Q2 data across all markets and a senior narrative on wins, misses, learnings, and H2 priorities.</a:t>
            </a:r>
          </a:p>
        </p:txBody>
      </p:sp>
      <p:sp>
        <p:nvSpPr>
          <p:cNvPr id="11" name="Rectangle 10"/>
          <p:cNvSpPr/>
          <p:nvPr/>
        </p:nvSpPr>
        <p:spPr>
          <a:xfrm>
            <a:off x="5989320" y="1600200"/>
            <a:ext cx="5303520" cy="493776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783080"/>
            <a:ext cx="5029200" cy="365760"/>
          </a:xfrm>
          <a:prstGeom prst="rect">
            <a:avLst/>
          </a:prstGeom>
          <a:noFill/>
        </p:spPr>
        <p:txBody>
          <a:bodyPr wrap="square">
            <a:spAutoFit/>
          </a:bodyPr>
          <a:lstStyle/>
          <a:p>
            <a:pPr algn="l"/>
            <a:r>
              <a:rPr sz="1000" b="1" i="0">
                <a:solidFill>
                  <a:srgbClr val="F0F0F2"/>
                </a:solidFill>
                <a:latin typeface="Calibri"/>
              </a:rPr>
              <a:t>BRILLIANT BASICS</a:t>
            </a:r>
          </a:p>
        </p:txBody>
      </p:sp>
      <p:sp>
        <p:nvSpPr>
          <p:cNvPr id="13" name="TextBox 12"/>
          <p:cNvSpPr txBox="1"/>
          <p:nvPr/>
        </p:nvSpPr>
        <p:spPr>
          <a:xfrm>
            <a:off x="6172200" y="2286000"/>
            <a:ext cx="5029200" cy="274320"/>
          </a:xfrm>
          <a:prstGeom prst="rect">
            <a:avLst/>
          </a:prstGeom>
          <a:noFill/>
        </p:spPr>
        <p:txBody>
          <a:bodyPr wrap="square">
            <a:spAutoFit/>
          </a:bodyPr>
          <a:lstStyle/>
          <a:p>
            <a:pPr algn="l"/>
            <a:r>
              <a:rPr sz="900" b="1" i="0">
                <a:solidFill>
                  <a:srgbClr val="5B9CF6"/>
                </a:solidFill>
                <a:latin typeface="Calibri"/>
              </a:rPr>
              <a:t>30 DAYS</a:t>
            </a:r>
          </a:p>
        </p:txBody>
      </p:sp>
      <p:sp>
        <p:nvSpPr>
          <p:cNvPr id="14" name="TextBox 13"/>
          <p:cNvSpPr txBox="1"/>
          <p:nvPr/>
        </p:nvSpPr>
        <p:spPr>
          <a:xfrm>
            <a:off x="6172200" y="2560320"/>
            <a:ext cx="5029200" cy="822960"/>
          </a:xfrm>
          <a:prstGeom prst="rect">
            <a:avLst/>
          </a:prstGeom>
          <a:noFill/>
        </p:spPr>
        <p:txBody>
          <a:bodyPr wrap="square">
            <a:spAutoFit/>
          </a:bodyPr>
          <a:lstStyle/>
          <a:p>
            <a:pPr algn="l"/>
            <a:r>
              <a:rPr sz="1200" b="0" i="0">
                <a:solidFill>
                  <a:srgbClr val="8888A0"/>
                </a:solidFill>
                <a:latin typeface="Calibri"/>
              </a:rPr>
              <a:t>Audit recurring meetings by type, attendee, frequency, duration, FTE cost, and delivery vs admin split.</a:t>
            </a:r>
          </a:p>
        </p:txBody>
      </p:sp>
      <p:sp>
        <p:nvSpPr>
          <p:cNvPr id="15" name="TextBox 14"/>
          <p:cNvSpPr txBox="1"/>
          <p:nvPr/>
        </p:nvSpPr>
        <p:spPr>
          <a:xfrm>
            <a:off x="6172200" y="3474720"/>
            <a:ext cx="5029200" cy="274320"/>
          </a:xfrm>
          <a:prstGeom prst="rect">
            <a:avLst/>
          </a:prstGeom>
          <a:noFill/>
        </p:spPr>
        <p:txBody>
          <a:bodyPr wrap="square">
            <a:spAutoFit/>
          </a:bodyPr>
          <a:lstStyle/>
          <a:p>
            <a:pPr algn="l"/>
            <a:r>
              <a:rPr sz="900" b="1" i="0">
                <a:solidFill>
                  <a:srgbClr val="5B9CF6"/>
                </a:solidFill>
                <a:latin typeface="Calibri"/>
              </a:rPr>
              <a:t>60 DAYS</a:t>
            </a:r>
          </a:p>
        </p:txBody>
      </p:sp>
      <p:sp>
        <p:nvSpPr>
          <p:cNvPr id="16" name="TextBox 15"/>
          <p:cNvSpPr txBox="1"/>
          <p:nvPr/>
        </p:nvSpPr>
        <p:spPr>
          <a:xfrm>
            <a:off x="6172200" y="3749040"/>
            <a:ext cx="5029200" cy="822960"/>
          </a:xfrm>
          <a:prstGeom prst="rect">
            <a:avLst/>
          </a:prstGeom>
          <a:noFill/>
        </p:spPr>
        <p:txBody>
          <a:bodyPr wrap="square">
            <a:spAutoFit/>
          </a:bodyPr>
          <a:lstStyle/>
          <a:p>
            <a:pPr algn="l"/>
            <a:r>
              <a:rPr sz="1200" b="0" i="0">
                <a:solidFill>
                  <a:srgbClr val="8888A0"/>
                </a:solidFill>
                <a:latin typeface="Calibri"/>
              </a:rPr>
              <a:t>Catalogue every standing report: audience, frequency, owner, production time, and whether Adobe acts on it. Identify what to stop, simplify, or automate.</a:t>
            </a:r>
          </a:p>
        </p:txBody>
      </p:sp>
      <p:sp>
        <p:nvSpPr>
          <p:cNvPr id="17" name="TextBox 16"/>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a:spAutoFit/>
          </a:bodyPr>
          <a:lstStyle/>
          <a:p>
            <a:pPr algn="l"/>
            <a:r>
              <a:rPr sz="900" b="1" i="0">
                <a:solidFill>
                  <a:srgbClr val="EB1000"/>
                </a:solidFill>
                <a:latin typeface="Calibri"/>
              </a:rPr>
              <a:t>30 / 60 / 90 DAY PLAN  ·  GROWTH LANE</a:t>
            </a:r>
          </a:p>
        </p:txBody>
      </p:sp>
      <p:sp>
        <p:nvSpPr>
          <p:cNvPr id="3" name="TextBox 2"/>
          <p:cNvSpPr txBox="1"/>
          <p:nvPr/>
        </p:nvSpPr>
        <p:spPr>
          <a:xfrm>
            <a:off x="548640" y="777240"/>
            <a:ext cx="9144000" cy="640080"/>
          </a:xfrm>
          <a:prstGeom prst="rect">
            <a:avLst/>
          </a:prstGeom>
          <a:noFill/>
        </p:spPr>
        <p:txBody>
          <a:bodyPr wrap="square">
            <a:spAutoFit/>
          </a:bodyPr>
          <a:lstStyle/>
          <a:p>
            <a:pPr algn="l"/>
            <a:r>
              <a:rPr sz="3200" b="1" i="0">
                <a:solidFill>
                  <a:srgbClr val="F0F0F2"/>
                </a:solidFill>
                <a:latin typeface="Calibri"/>
              </a:rPr>
              <a:t>Velocity Content &amp; Growth</a:t>
            </a:r>
          </a:p>
        </p:txBody>
      </p:sp>
      <p:sp>
        <p:nvSpPr>
          <p:cNvPr id="4" name="Rectangle 3"/>
          <p:cNvSpPr/>
          <p:nvPr/>
        </p:nvSpPr>
        <p:spPr>
          <a:xfrm>
            <a:off x="548640" y="14173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600200"/>
            <a:ext cx="3520440" cy="493776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3246120" cy="365760"/>
          </a:xfrm>
          <a:prstGeom prst="rect">
            <a:avLst/>
          </a:prstGeom>
          <a:noFill/>
        </p:spPr>
        <p:txBody>
          <a:bodyPr wrap="square">
            <a:spAutoFit/>
          </a:bodyPr>
          <a:lstStyle/>
          <a:p>
            <a:pPr algn="l"/>
            <a:r>
              <a:rPr sz="1000" b="1" i="0">
                <a:solidFill>
                  <a:srgbClr val="F0F0F2"/>
                </a:solidFill>
                <a:latin typeface="Calibri"/>
              </a:rPr>
              <a:t>RENEWAL</a:t>
            </a:r>
          </a:p>
        </p:txBody>
      </p:sp>
      <p:sp>
        <p:nvSpPr>
          <p:cNvPr id="7" name="TextBox 6"/>
          <p:cNvSpPr txBox="1"/>
          <p:nvPr/>
        </p:nvSpPr>
        <p:spPr>
          <a:xfrm>
            <a:off x="685800" y="2286000"/>
            <a:ext cx="3246120" cy="274320"/>
          </a:xfrm>
          <a:prstGeom prst="rect">
            <a:avLst/>
          </a:prstGeom>
          <a:noFill/>
        </p:spPr>
        <p:txBody>
          <a:bodyPr wrap="square">
            <a:spAutoFit/>
          </a:bodyPr>
          <a:lstStyle/>
          <a:p>
            <a:pPr algn="l"/>
            <a:r>
              <a:rPr sz="900" b="1" i="0">
                <a:solidFill>
                  <a:srgbClr val="4EC994"/>
                </a:solidFill>
                <a:latin typeface="Calibri"/>
              </a:rPr>
              <a:t>30 DAYS</a:t>
            </a:r>
          </a:p>
        </p:txBody>
      </p:sp>
      <p:sp>
        <p:nvSpPr>
          <p:cNvPr id="8" name="TextBox 7"/>
          <p:cNvSpPr txBox="1"/>
          <p:nvPr/>
        </p:nvSpPr>
        <p:spPr>
          <a:xfrm>
            <a:off x="685800" y="2560320"/>
            <a:ext cx="3246120" cy="822960"/>
          </a:xfrm>
          <a:prstGeom prst="rect">
            <a:avLst/>
          </a:prstGeom>
          <a:noFill/>
        </p:spPr>
        <p:txBody>
          <a:bodyPr wrap="square">
            <a:spAutoFit/>
          </a:bodyPr>
          <a:lstStyle/>
          <a:p>
            <a:pPr algn="l"/>
            <a:r>
              <a:rPr sz="1200" b="0" i="0">
                <a:solidFill>
                  <a:srgbClr val="8888A0"/>
                </a:solidFill>
                <a:latin typeface="Calibri"/>
              </a:rPr>
              <a:t>Review the contract, flag ambiguous clauses, confirm rollover intent with MOP, identify org and scope changes needed in new terms.</a:t>
            </a:r>
          </a:p>
        </p:txBody>
      </p:sp>
      <p:sp>
        <p:nvSpPr>
          <p:cNvPr id="9" name="TextBox 8"/>
          <p:cNvSpPr txBox="1"/>
          <p:nvPr/>
        </p:nvSpPr>
        <p:spPr>
          <a:xfrm>
            <a:off x="685800" y="3474720"/>
            <a:ext cx="3246120" cy="274320"/>
          </a:xfrm>
          <a:prstGeom prst="rect">
            <a:avLst/>
          </a:prstGeom>
          <a:noFill/>
        </p:spPr>
        <p:txBody>
          <a:bodyPr wrap="square">
            <a:spAutoFit/>
          </a:bodyPr>
          <a:lstStyle/>
          <a:p>
            <a:pPr algn="l"/>
            <a:r>
              <a:rPr sz="900" b="1" i="0">
                <a:solidFill>
                  <a:srgbClr val="4EC994"/>
                </a:solidFill>
                <a:latin typeface="Calibri"/>
              </a:rPr>
              <a:t>60 DAYS</a:t>
            </a:r>
          </a:p>
        </p:txBody>
      </p:sp>
      <p:sp>
        <p:nvSpPr>
          <p:cNvPr id="10" name="TextBox 9"/>
          <p:cNvSpPr txBox="1"/>
          <p:nvPr/>
        </p:nvSpPr>
        <p:spPr>
          <a:xfrm>
            <a:off x="685800" y="3749040"/>
            <a:ext cx="3246120" cy="822960"/>
          </a:xfrm>
          <a:prstGeom prst="rect">
            <a:avLst/>
          </a:prstGeom>
          <a:noFill/>
        </p:spPr>
        <p:txBody>
          <a:bodyPr wrap="square">
            <a:spAutoFit/>
          </a:bodyPr>
          <a:lstStyle/>
          <a:p>
            <a:pPr algn="l"/>
            <a:r>
              <a:rPr sz="1200" b="0" i="0">
                <a:solidFill>
                  <a:srgbClr val="8888A0"/>
                </a:solidFill>
                <a:latin typeface="Calibri"/>
              </a:rPr>
              <a:t>Cross-reference renewal scope against org design outcomes, identify mismatches, draft proposed contract amendments and negotiation positions.</a:t>
            </a:r>
          </a:p>
        </p:txBody>
      </p:sp>
      <p:sp>
        <p:nvSpPr>
          <p:cNvPr id="11" name="TextBox 10"/>
          <p:cNvSpPr txBox="1"/>
          <p:nvPr/>
        </p:nvSpPr>
        <p:spPr>
          <a:xfrm>
            <a:off x="685800" y="4663440"/>
            <a:ext cx="3246120" cy="274320"/>
          </a:xfrm>
          <a:prstGeom prst="rect">
            <a:avLst/>
          </a:prstGeom>
          <a:noFill/>
        </p:spPr>
        <p:txBody>
          <a:bodyPr wrap="square">
            <a:spAutoFit/>
          </a:bodyPr>
          <a:lstStyle/>
          <a:p>
            <a:pPr algn="l"/>
            <a:r>
              <a:rPr sz="900" b="1" i="0">
                <a:solidFill>
                  <a:srgbClr val="4EC994"/>
                </a:solidFill>
                <a:latin typeface="Calibri"/>
              </a:rPr>
              <a:t>90 DAYS</a:t>
            </a:r>
          </a:p>
        </p:txBody>
      </p:sp>
      <p:sp>
        <p:nvSpPr>
          <p:cNvPr id="12" name="TextBox 11"/>
          <p:cNvSpPr txBox="1"/>
          <p:nvPr/>
        </p:nvSpPr>
        <p:spPr>
          <a:xfrm>
            <a:off x="685800" y="4937760"/>
            <a:ext cx="3246120" cy="822960"/>
          </a:xfrm>
          <a:prstGeom prst="rect">
            <a:avLst/>
          </a:prstGeom>
          <a:noFill/>
        </p:spPr>
        <p:txBody>
          <a:bodyPr wrap="square">
            <a:spAutoFit/>
          </a:bodyPr>
          <a:lstStyle/>
          <a:p>
            <a:pPr algn="l"/>
            <a:r>
              <a:rPr sz="1200" b="0" i="0">
                <a:solidFill>
                  <a:srgbClr val="8888A0"/>
                </a:solidFill>
                <a:latin typeface="Calibri"/>
              </a:rPr>
              <a:t>Create a cross-market proof point using Singapore or India and write it up as evidence the APAC model is real.</a:t>
            </a:r>
          </a:p>
        </p:txBody>
      </p:sp>
      <p:sp>
        <p:nvSpPr>
          <p:cNvPr id="13" name="Rectangle 12"/>
          <p:cNvSpPr/>
          <p:nvPr/>
        </p:nvSpPr>
        <p:spPr>
          <a:xfrm>
            <a:off x="4114800" y="1600200"/>
            <a:ext cx="3520440" cy="493776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1783080"/>
            <a:ext cx="3246120" cy="365760"/>
          </a:xfrm>
          <a:prstGeom prst="rect">
            <a:avLst/>
          </a:prstGeom>
          <a:noFill/>
        </p:spPr>
        <p:txBody>
          <a:bodyPr wrap="square">
            <a:spAutoFit/>
          </a:bodyPr>
          <a:lstStyle/>
          <a:p>
            <a:pPr algn="l"/>
            <a:r>
              <a:rPr sz="1000" b="1" i="0">
                <a:solidFill>
                  <a:srgbClr val="F0F0F2"/>
                </a:solidFill>
                <a:latin typeface="Calibri"/>
              </a:rPr>
              <a:t>ADOBE ON ADOBE</a:t>
            </a:r>
          </a:p>
        </p:txBody>
      </p:sp>
      <p:sp>
        <p:nvSpPr>
          <p:cNvPr id="15" name="TextBox 14"/>
          <p:cNvSpPr txBox="1"/>
          <p:nvPr/>
        </p:nvSpPr>
        <p:spPr>
          <a:xfrm>
            <a:off x="4297680" y="2286000"/>
            <a:ext cx="3246120" cy="274320"/>
          </a:xfrm>
          <a:prstGeom prst="rect">
            <a:avLst/>
          </a:prstGeom>
          <a:noFill/>
        </p:spPr>
        <p:txBody>
          <a:bodyPr wrap="square">
            <a:spAutoFit/>
          </a:bodyPr>
          <a:lstStyle/>
          <a:p>
            <a:pPr algn="l"/>
            <a:r>
              <a:rPr sz="900" b="1" i="0">
                <a:solidFill>
                  <a:srgbClr val="4EC994"/>
                </a:solidFill>
                <a:latin typeface="Calibri"/>
              </a:rPr>
              <a:t>30 DAYS</a:t>
            </a:r>
          </a:p>
        </p:txBody>
      </p:sp>
      <p:sp>
        <p:nvSpPr>
          <p:cNvPr id="16" name="TextBox 15"/>
          <p:cNvSpPr txBox="1"/>
          <p:nvPr/>
        </p:nvSpPr>
        <p:spPr>
          <a:xfrm>
            <a:off x="4297680" y="2560320"/>
            <a:ext cx="3246120" cy="822960"/>
          </a:xfrm>
          <a:prstGeom prst="rect">
            <a:avLst/>
          </a:prstGeom>
          <a:noFill/>
        </p:spPr>
        <p:txBody>
          <a:bodyPr wrap="square">
            <a:spAutoFit/>
          </a:bodyPr>
          <a:lstStyle/>
          <a:p>
            <a:pPr algn="l"/>
            <a:r>
              <a:rPr sz="1200" b="0" i="0">
                <a:solidFill>
                  <a:srgbClr val="8888A0"/>
                </a:solidFill>
                <a:latin typeface="Calibri"/>
              </a:rPr>
              <a:t>Audit Adobe stack usage across all seven markets, rating maturity by tool and market.</a:t>
            </a:r>
          </a:p>
        </p:txBody>
      </p:sp>
      <p:sp>
        <p:nvSpPr>
          <p:cNvPr id="17" name="TextBox 16"/>
          <p:cNvSpPr txBox="1"/>
          <p:nvPr/>
        </p:nvSpPr>
        <p:spPr>
          <a:xfrm>
            <a:off x="4297680" y="3474720"/>
            <a:ext cx="3246120" cy="274320"/>
          </a:xfrm>
          <a:prstGeom prst="rect">
            <a:avLst/>
          </a:prstGeom>
          <a:noFill/>
        </p:spPr>
        <p:txBody>
          <a:bodyPr wrap="square">
            <a:spAutoFit/>
          </a:bodyPr>
          <a:lstStyle/>
          <a:p>
            <a:pPr algn="l"/>
            <a:r>
              <a:rPr sz="900" b="1" i="0">
                <a:solidFill>
                  <a:srgbClr val="4EC994"/>
                </a:solidFill>
                <a:latin typeface="Calibri"/>
              </a:rPr>
              <a:t>60 DAYS</a:t>
            </a:r>
          </a:p>
        </p:txBody>
      </p:sp>
      <p:sp>
        <p:nvSpPr>
          <p:cNvPr id="18" name="TextBox 17"/>
          <p:cNvSpPr txBox="1"/>
          <p:nvPr/>
        </p:nvSpPr>
        <p:spPr>
          <a:xfrm>
            <a:off x="4297680" y="3749040"/>
            <a:ext cx="3246120" cy="822960"/>
          </a:xfrm>
          <a:prstGeom prst="rect">
            <a:avLst/>
          </a:prstGeom>
          <a:noFill/>
        </p:spPr>
        <p:txBody>
          <a:bodyPr wrap="square">
            <a:spAutoFit/>
          </a:bodyPr>
          <a:lstStyle/>
          <a:p>
            <a:pPr algn="l"/>
            <a:r>
              <a:rPr sz="1200" b="0" i="0">
                <a:solidFill>
                  <a:srgbClr val="8888A0"/>
                </a:solidFill>
                <a:latin typeface="Calibri"/>
              </a:rPr>
              <a:t>Map Adobe tool use across Publicis brands. Identify where Prodigious can support lower-funnel production. Model cost vs non-Publicis vendors.</a:t>
            </a:r>
          </a:p>
        </p:txBody>
      </p:sp>
      <p:sp>
        <p:nvSpPr>
          <p:cNvPr id="19" name="Rectangle 18"/>
          <p:cNvSpPr/>
          <p:nvPr/>
        </p:nvSpPr>
        <p:spPr>
          <a:xfrm>
            <a:off x="7726680" y="1600200"/>
            <a:ext cx="3520440" cy="4937760"/>
          </a:xfrm>
          <a:prstGeom prst="rect">
            <a:avLst/>
          </a:prstGeom>
          <a:solidFill>
            <a:srgbClr val="1616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9560" y="1783080"/>
            <a:ext cx="3246120" cy="365760"/>
          </a:xfrm>
          <a:prstGeom prst="rect">
            <a:avLst/>
          </a:prstGeom>
          <a:noFill/>
        </p:spPr>
        <p:txBody>
          <a:bodyPr wrap="square">
            <a:spAutoFit/>
          </a:bodyPr>
          <a:lstStyle/>
          <a:p>
            <a:pPr algn="l"/>
            <a:r>
              <a:rPr sz="1000" b="1" i="0">
                <a:solidFill>
                  <a:srgbClr val="F0F0F2"/>
                </a:solidFill>
                <a:latin typeface="Calibri"/>
              </a:rPr>
              <a:t>NEW REVENUE</a:t>
            </a:r>
          </a:p>
        </p:txBody>
      </p:sp>
      <p:sp>
        <p:nvSpPr>
          <p:cNvPr id="21" name="TextBox 20"/>
          <p:cNvSpPr txBox="1"/>
          <p:nvPr/>
        </p:nvSpPr>
        <p:spPr>
          <a:xfrm>
            <a:off x="7909560" y="2286000"/>
            <a:ext cx="3246120" cy="274320"/>
          </a:xfrm>
          <a:prstGeom prst="rect">
            <a:avLst/>
          </a:prstGeom>
          <a:noFill/>
        </p:spPr>
        <p:txBody>
          <a:bodyPr wrap="square">
            <a:spAutoFit/>
          </a:bodyPr>
          <a:lstStyle/>
          <a:p>
            <a:pPr algn="l"/>
            <a:r>
              <a:rPr sz="900" b="1" i="0">
                <a:solidFill>
                  <a:srgbClr val="4EC994"/>
                </a:solidFill>
                <a:latin typeface="Calibri"/>
              </a:rPr>
              <a:t>60 DAYS</a:t>
            </a:r>
          </a:p>
        </p:txBody>
      </p:sp>
      <p:sp>
        <p:nvSpPr>
          <p:cNvPr id="22" name="TextBox 21"/>
          <p:cNvSpPr txBox="1"/>
          <p:nvPr/>
        </p:nvSpPr>
        <p:spPr>
          <a:xfrm>
            <a:off x="7909560" y="2560320"/>
            <a:ext cx="3246120" cy="822960"/>
          </a:xfrm>
          <a:prstGeom prst="rect">
            <a:avLst/>
          </a:prstGeom>
          <a:noFill/>
        </p:spPr>
        <p:txBody>
          <a:bodyPr wrap="square">
            <a:spAutoFit/>
          </a:bodyPr>
          <a:lstStyle/>
          <a:p>
            <a:pPr algn="l"/>
            <a:r>
              <a:rPr sz="1200" b="0" i="0">
                <a:solidFill>
                  <a:srgbClr val="8888A0"/>
                </a:solidFill>
                <a:latin typeface="Calibri"/>
              </a:rPr>
              <a:t>Define Velocity Content team structure, capability model, billing model, SEO scope extension, and Agentic Search Optimisation proposal.</a:t>
            </a:r>
          </a:p>
        </p:txBody>
      </p:sp>
      <p:sp>
        <p:nvSpPr>
          <p:cNvPr id="23" name="TextBox 22"/>
          <p:cNvSpPr txBox="1"/>
          <p:nvPr/>
        </p:nvSpPr>
        <p:spPr>
          <a:xfrm>
            <a:off x="7909560" y="3474720"/>
            <a:ext cx="3246120" cy="274320"/>
          </a:xfrm>
          <a:prstGeom prst="rect">
            <a:avLst/>
          </a:prstGeom>
          <a:noFill/>
        </p:spPr>
        <p:txBody>
          <a:bodyPr wrap="square">
            <a:spAutoFit/>
          </a:bodyPr>
          <a:lstStyle/>
          <a:p>
            <a:pPr algn="l"/>
            <a:r>
              <a:rPr sz="900" b="1" i="0">
                <a:solidFill>
                  <a:srgbClr val="4EC994"/>
                </a:solidFill>
                <a:latin typeface="Calibri"/>
              </a:rPr>
              <a:t>90 DAYS</a:t>
            </a:r>
          </a:p>
        </p:txBody>
      </p:sp>
      <p:sp>
        <p:nvSpPr>
          <p:cNvPr id="24" name="TextBox 23"/>
          <p:cNvSpPr txBox="1"/>
          <p:nvPr/>
        </p:nvSpPr>
        <p:spPr>
          <a:xfrm>
            <a:off x="7909560" y="3749040"/>
            <a:ext cx="3246120" cy="822960"/>
          </a:xfrm>
          <a:prstGeom prst="rect">
            <a:avLst/>
          </a:prstGeom>
          <a:noFill/>
        </p:spPr>
        <p:txBody>
          <a:bodyPr wrap="square">
            <a:spAutoFit/>
          </a:bodyPr>
          <a:lstStyle/>
          <a:p>
            <a:pPr algn="l"/>
            <a:r>
              <a:rPr sz="1200" b="0" i="0">
                <a:solidFill>
                  <a:srgbClr val="8888A0"/>
                </a:solidFill>
                <a:latin typeface="Calibri"/>
              </a:rPr>
              <a:t>Scope a Velocity Content pilot by selecting the right market and brief.</a:t>
            </a:r>
          </a:p>
        </p:txBody>
      </p:sp>
      <p:sp>
        <p:nvSpPr>
          <p:cNvPr id="25" name="TextBox 24"/>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a:spAutoFit/>
          </a:bodyPr>
          <a:lstStyle/>
          <a:p>
            <a:pPr algn="l"/>
            <a:r>
              <a:rPr sz="900" b="1" i="0">
                <a:solidFill>
                  <a:srgbClr val="EB1000"/>
                </a:solidFill>
                <a:latin typeface="Calibri"/>
              </a:rPr>
              <a:t>SOW</a:t>
            </a:r>
          </a:p>
        </p:txBody>
      </p:sp>
      <p:sp>
        <p:nvSpPr>
          <p:cNvPr id="3" name="TextBox 2"/>
          <p:cNvSpPr txBox="1"/>
          <p:nvPr/>
        </p:nvSpPr>
        <p:spPr>
          <a:xfrm>
            <a:off x="548640" y="777240"/>
            <a:ext cx="10058400" cy="640080"/>
          </a:xfrm>
          <a:prstGeom prst="rect">
            <a:avLst/>
          </a:prstGeom>
          <a:noFill/>
        </p:spPr>
        <p:txBody>
          <a:bodyPr wrap="square">
            <a:spAutoFit/>
          </a:bodyPr>
          <a:lstStyle/>
          <a:p>
            <a:pPr algn="l"/>
            <a:r>
              <a:rPr sz="3200" b="1" i="0">
                <a:solidFill>
                  <a:srgbClr val="F0F0F2"/>
                </a:solidFill>
                <a:latin typeface="Calibri"/>
              </a:rPr>
              <a:t>SOW Implications</a:t>
            </a:r>
          </a:p>
        </p:txBody>
      </p:sp>
      <p:sp>
        <p:nvSpPr>
          <p:cNvPr id="4" name="Rectangle 3"/>
          <p:cNvSpPr/>
          <p:nvPr/>
        </p:nvSpPr>
        <p:spPr>
          <a:xfrm>
            <a:off x="548640" y="14173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801368"/>
            <a:ext cx="73152" cy="73152"/>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91640"/>
            <a:ext cx="10607040" cy="640080"/>
          </a:xfrm>
          <a:prstGeom prst="rect">
            <a:avLst/>
          </a:prstGeom>
          <a:noFill/>
        </p:spPr>
        <p:txBody>
          <a:bodyPr wrap="square">
            <a:spAutoFit/>
          </a:bodyPr>
          <a:lstStyle/>
          <a:p>
            <a:pPr algn="l"/>
            <a:r>
              <a:rPr sz="1300" b="0" i="0">
                <a:solidFill>
                  <a:srgbClr val="8888A0"/>
                </a:solidFill>
                <a:latin typeface="Calibri"/>
              </a:rPr>
              <a:t>Organisational model and two-in-a-box engagement structure must be captured as operating commitments, not left as informal ways of working.</a:t>
            </a:r>
          </a:p>
        </p:txBody>
      </p:sp>
      <p:sp>
        <p:nvSpPr>
          <p:cNvPr id="7" name="Rectangle 6"/>
          <p:cNvSpPr/>
          <p:nvPr/>
        </p:nvSpPr>
        <p:spPr>
          <a:xfrm>
            <a:off x="548640" y="237744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2578608"/>
            <a:ext cx="73152" cy="73152"/>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468880"/>
            <a:ext cx="10607040" cy="640080"/>
          </a:xfrm>
          <a:prstGeom prst="rect">
            <a:avLst/>
          </a:prstGeom>
          <a:noFill/>
        </p:spPr>
        <p:txBody>
          <a:bodyPr wrap="square">
            <a:spAutoFit/>
          </a:bodyPr>
          <a:lstStyle/>
          <a:p>
            <a:pPr algn="l"/>
            <a:r>
              <a:rPr sz="1300" b="0" i="0">
                <a:solidFill>
                  <a:srgbClr val="8888A0"/>
                </a:solidFill>
                <a:latin typeface="Calibri"/>
              </a:rPr>
              <a:t>Digital excellence should translate into named capabilities, owners, cadence, tools, and measurable outputs.</a:t>
            </a:r>
          </a:p>
        </p:txBody>
      </p:sp>
      <p:sp>
        <p:nvSpPr>
          <p:cNvPr id="10" name="Rectangle 9"/>
          <p:cNvSpPr/>
          <p:nvPr/>
        </p:nvSpPr>
        <p:spPr>
          <a:xfrm>
            <a:off x="548640" y="315468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355848"/>
            <a:ext cx="73152" cy="73152"/>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246120"/>
            <a:ext cx="10607040" cy="640080"/>
          </a:xfrm>
          <a:prstGeom prst="rect">
            <a:avLst/>
          </a:prstGeom>
          <a:noFill/>
        </p:spPr>
        <p:txBody>
          <a:bodyPr wrap="square">
            <a:spAutoFit/>
          </a:bodyPr>
          <a:lstStyle/>
          <a:p>
            <a:pPr algn="l"/>
            <a:r>
              <a:rPr sz="1300" b="0" i="0">
                <a:solidFill>
                  <a:srgbClr val="8888A0"/>
                </a:solidFill>
                <a:latin typeface="Calibri"/>
              </a:rPr>
              <a:t>Velocity Content, SEO extension, Agentic Search Optimisation, Adobe-on-Adobe, and creative/content production should be scoped as explicit growth services.</a:t>
            </a:r>
          </a:p>
        </p:txBody>
      </p:sp>
      <p:sp>
        <p:nvSpPr>
          <p:cNvPr id="13" name="Rectangle 12"/>
          <p:cNvSpPr/>
          <p:nvPr/>
        </p:nvSpPr>
        <p:spPr>
          <a:xfrm>
            <a:off x="548640" y="39319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4133088"/>
            <a:ext cx="73152" cy="73152"/>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023360"/>
            <a:ext cx="10607040" cy="640080"/>
          </a:xfrm>
          <a:prstGeom prst="rect">
            <a:avLst/>
          </a:prstGeom>
          <a:noFill/>
        </p:spPr>
        <p:txBody>
          <a:bodyPr wrap="square">
            <a:spAutoFit/>
          </a:bodyPr>
          <a:lstStyle/>
          <a:p>
            <a:pPr algn="l"/>
            <a:r>
              <a:rPr sz="1300" b="0" i="0">
                <a:solidFill>
                  <a:srgbClr val="8888A0"/>
                </a:solidFill>
                <a:latin typeface="Calibri"/>
              </a:rPr>
              <a:t>The renewal should include flexible resourcing language for emerging market opportunities, especially Philippines and Indonesia.</a:t>
            </a:r>
          </a:p>
        </p:txBody>
      </p:sp>
      <p:sp>
        <p:nvSpPr>
          <p:cNvPr id="16" name="Rectangle 15"/>
          <p:cNvSpPr/>
          <p:nvPr/>
        </p:nvSpPr>
        <p:spPr>
          <a:xfrm>
            <a:off x="548640" y="470916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910328"/>
            <a:ext cx="73152" cy="73152"/>
          </a:xfrm>
          <a:prstGeom prst="rect">
            <a:avLst/>
          </a:prstGeom>
          <a:solidFill>
            <a:srgbClr val="EB1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800600"/>
            <a:ext cx="10607040" cy="640080"/>
          </a:xfrm>
          <a:prstGeom prst="rect">
            <a:avLst/>
          </a:prstGeom>
          <a:noFill/>
        </p:spPr>
        <p:txBody>
          <a:bodyPr wrap="square">
            <a:spAutoFit/>
          </a:bodyPr>
          <a:lstStyle/>
          <a:p>
            <a:pPr algn="l"/>
            <a:r>
              <a:rPr sz="1300" b="0" i="0">
                <a:solidFill>
                  <a:srgbClr val="8888A0"/>
                </a:solidFill>
                <a:latin typeface="Calibri"/>
              </a:rPr>
              <a:t>Any performance-linked team reward model needs commercial and HR review before being written into renewal mechanics.</a:t>
            </a:r>
          </a:p>
        </p:txBody>
      </p:sp>
      <p:sp>
        <p:nvSpPr>
          <p:cNvPr id="19" name="Rectangle 18"/>
          <p:cNvSpPr/>
          <p:nvPr/>
        </p:nvSpPr>
        <p:spPr>
          <a:xfrm>
            <a:off x="548640" y="548640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0"/>
        </a:solidFill>
        <a:effectLst/>
      </p:bgPr>
    </p:bg>
    <p:spTree>
      <p:nvGrpSpPr>
        <p:cNvPr id="1" name=""/>
        <p:cNvGrpSpPr/>
        <p:nvPr/>
      </p:nvGrpSpPr>
      <p:grpSpPr/>
      <p:sp>
        <p:nvSpPr>
          <p:cNvPr id="2" name="TextBox 1"/>
          <p:cNvSpPr txBox="1"/>
          <p:nvPr/>
        </p:nvSpPr>
        <p:spPr>
          <a:xfrm>
            <a:off x="548640" y="457200"/>
            <a:ext cx="3657600" cy="274320"/>
          </a:xfrm>
          <a:prstGeom prst="rect">
            <a:avLst/>
          </a:prstGeom>
          <a:noFill/>
        </p:spPr>
        <p:txBody>
          <a:bodyPr wrap="square">
            <a:spAutoFit/>
          </a:bodyPr>
          <a:lstStyle/>
          <a:p>
            <a:pPr algn="l"/>
            <a:r>
              <a:rPr sz="900" b="1" i="0">
                <a:solidFill>
                  <a:srgbClr val="EB1000"/>
                </a:solidFill>
                <a:latin typeface="Calibri"/>
              </a:rPr>
              <a:t>OPEN QUESTIONS</a:t>
            </a:r>
          </a:p>
        </p:txBody>
      </p:sp>
      <p:sp>
        <p:nvSpPr>
          <p:cNvPr id="3" name="TextBox 2"/>
          <p:cNvSpPr txBox="1"/>
          <p:nvPr/>
        </p:nvSpPr>
        <p:spPr>
          <a:xfrm>
            <a:off x="548640" y="777240"/>
            <a:ext cx="10058400" cy="640080"/>
          </a:xfrm>
          <a:prstGeom prst="rect">
            <a:avLst/>
          </a:prstGeom>
          <a:noFill/>
        </p:spPr>
        <p:txBody>
          <a:bodyPr wrap="square">
            <a:spAutoFit/>
          </a:bodyPr>
          <a:lstStyle/>
          <a:p>
            <a:pPr algn="l"/>
            <a:r>
              <a:rPr sz="3200" b="1" i="0">
                <a:solidFill>
                  <a:srgbClr val="F0F0F2"/>
                </a:solidFill>
                <a:latin typeface="Calibri"/>
              </a:rPr>
              <a:t>Outstanding Decisions</a:t>
            </a:r>
          </a:p>
        </p:txBody>
      </p:sp>
      <p:sp>
        <p:nvSpPr>
          <p:cNvPr id="4" name="Rectangle 3"/>
          <p:cNvSpPr/>
          <p:nvPr/>
        </p:nvSpPr>
        <p:spPr>
          <a:xfrm>
            <a:off x="548640" y="14173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91640"/>
            <a:ext cx="457200" cy="594360"/>
          </a:xfrm>
          <a:prstGeom prst="rect">
            <a:avLst/>
          </a:prstGeom>
          <a:noFill/>
        </p:spPr>
        <p:txBody>
          <a:bodyPr wrap="square">
            <a:spAutoFit/>
          </a:bodyPr>
          <a:lstStyle/>
          <a:p>
            <a:pPr algn="l"/>
            <a:r>
              <a:rPr sz="1200" b="1" i="0">
                <a:solidFill>
                  <a:srgbClr val="8888A0"/>
                </a:solidFill>
                <a:latin typeface="Calibri"/>
              </a:rPr>
              <a:t>01</a:t>
            </a:r>
          </a:p>
        </p:txBody>
      </p:sp>
      <p:sp>
        <p:nvSpPr>
          <p:cNvPr id="6" name="TextBox 5"/>
          <p:cNvSpPr txBox="1"/>
          <p:nvPr/>
        </p:nvSpPr>
        <p:spPr>
          <a:xfrm>
            <a:off x="1005840" y="1691640"/>
            <a:ext cx="10424160" cy="594360"/>
          </a:xfrm>
          <a:prstGeom prst="rect">
            <a:avLst/>
          </a:prstGeom>
          <a:noFill/>
        </p:spPr>
        <p:txBody>
          <a:bodyPr wrap="square">
            <a:spAutoFit/>
          </a:bodyPr>
          <a:lstStyle/>
          <a:p>
            <a:pPr algn="l"/>
            <a:r>
              <a:rPr sz="1200" b="0" i="0">
                <a:solidFill>
                  <a:srgbClr val="8888A0"/>
                </a:solidFill>
                <a:latin typeface="Calibri"/>
              </a:rPr>
              <a:t>Confirm whether "Vision 2028" or "FY29 Vision" is the preferred working title. The contract horizon runs to November 2029, but the artefact title is Vision 2028.</a:t>
            </a:r>
          </a:p>
        </p:txBody>
      </p:sp>
      <p:sp>
        <p:nvSpPr>
          <p:cNvPr id="7" name="Rectangle 6"/>
          <p:cNvSpPr/>
          <p:nvPr/>
        </p:nvSpPr>
        <p:spPr>
          <a:xfrm>
            <a:off x="548640" y="233172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404872"/>
            <a:ext cx="457200" cy="594360"/>
          </a:xfrm>
          <a:prstGeom prst="rect">
            <a:avLst/>
          </a:prstGeom>
          <a:noFill/>
        </p:spPr>
        <p:txBody>
          <a:bodyPr wrap="square">
            <a:spAutoFit/>
          </a:bodyPr>
          <a:lstStyle/>
          <a:p>
            <a:pPr algn="l"/>
            <a:r>
              <a:rPr sz="1200" b="1" i="0">
                <a:solidFill>
                  <a:srgbClr val="8888A0"/>
                </a:solidFill>
                <a:latin typeface="Calibri"/>
              </a:rPr>
              <a:t>02</a:t>
            </a:r>
          </a:p>
        </p:txBody>
      </p:sp>
      <p:sp>
        <p:nvSpPr>
          <p:cNvPr id="9" name="TextBox 8"/>
          <p:cNvSpPr txBox="1"/>
          <p:nvPr/>
        </p:nvSpPr>
        <p:spPr>
          <a:xfrm>
            <a:off x="1005840" y="2404872"/>
            <a:ext cx="10424160" cy="594360"/>
          </a:xfrm>
          <a:prstGeom prst="rect">
            <a:avLst/>
          </a:prstGeom>
          <a:noFill/>
        </p:spPr>
        <p:txBody>
          <a:bodyPr wrap="square">
            <a:spAutoFit/>
          </a:bodyPr>
          <a:lstStyle/>
          <a:p>
            <a:pPr algn="l"/>
            <a:r>
              <a:rPr sz="1200" b="0" i="0">
                <a:solidFill>
                  <a:srgbClr val="8888A0"/>
                </a:solidFill>
                <a:latin typeface="Calibri"/>
              </a:rPr>
              <a:t>Confirm which elements become Adobe-facing at Stage 5 versus kept internal.</a:t>
            </a:r>
          </a:p>
        </p:txBody>
      </p:sp>
      <p:sp>
        <p:nvSpPr>
          <p:cNvPr id="10" name="Rectangle 9"/>
          <p:cNvSpPr/>
          <p:nvPr/>
        </p:nvSpPr>
        <p:spPr>
          <a:xfrm>
            <a:off x="548640" y="3044952"/>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118104"/>
            <a:ext cx="457200" cy="594360"/>
          </a:xfrm>
          <a:prstGeom prst="rect">
            <a:avLst/>
          </a:prstGeom>
          <a:noFill/>
        </p:spPr>
        <p:txBody>
          <a:bodyPr wrap="square">
            <a:spAutoFit/>
          </a:bodyPr>
          <a:lstStyle/>
          <a:p>
            <a:pPr algn="l"/>
            <a:r>
              <a:rPr sz="1200" b="1" i="0">
                <a:solidFill>
                  <a:srgbClr val="8888A0"/>
                </a:solidFill>
                <a:latin typeface="Calibri"/>
              </a:rPr>
              <a:t>03</a:t>
            </a:r>
          </a:p>
        </p:txBody>
      </p:sp>
      <p:sp>
        <p:nvSpPr>
          <p:cNvPr id="12" name="TextBox 11"/>
          <p:cNvSpPr txBox="1"/>
          <p:nvPr/>
        </p:nvSpPr>
        <p:spPr>
          <a:xfrm>
            <a:off x="1005840" y="3118104"/>
            <a:ext cx="10424160" cy="594360"/>
          </a:xfrm>
          <a:prstGeom prst="rect">
            <a:avLst/>
          </a:prstGeom>
          <a:noFill/>
        </p:spPr>
        <p:txBody>
          <a:bodyPr wrap="square">
            <a:spAutoFit/>
          </a:bodyPr>
          <a:lstStyle/>
          <a:p>
            <a:pPr algn="l"/>
            <a:r>
              <a:rPr sz="1200" b="0" i="0">
                <a:solidFill>
                  <a:srgbClr val="8888A0"/>
                </a:solidFill>
                <a:latin typeface="Calibri"/>
              </a:rPr>
              <a:t>Confirm how hard to push performance-linked reward in the SOW context versus keeping it as an internal culture mechanism.</a:t>
            </a:r>
          </a:p>
        </p:txBody>
      </p:sp>
      <p:sp>
        <p:nvSpPr>
          <p:cNvPr id="13" name="Rectangle 12"/>
          <p:cNvSpPr/>
          <p:nvPr/>
        </p:nvSpPr>
        <p:spPr>
          <a:xfrm>
            <a:off x="548640" y="3758184"/>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831336"/>
            <a:ext cx="457200" cy="594360"/>
          </a:xfrm>
          <a:prstGeom prst="rect">
            <a:avLst/>
          </a:prstGeom>
          <a:noFill/>
        </p:spPr>
        <p:txBody>
          <a:bodyPr wrap="square">
            <a:spAutoFit/>
          </a:bodyPr>
          <a:lstStyle/>
          <a:p>
            <a:pPr algn="l"/>
            <a:r>
              <a:rPr sz="1200" b="1" i="0">
                <a:solidFill>
                  <a:srgbClr val="8888A0"/>
                </a:solidFill>
                <a:latin typeface="Calibri"/>
              </a:rPr>
              <a:t>04</a:t>
            </a:r>
          </a:p>
        </p:txBody>
      </p:sp>
      <p:sp>
        <p:nvSpPr>
          <p:cNvPr id="15" name="TextBox 14"/>
          <p:cNvSpPr txBox="1"/>
          <p:nvPr/>
        </p:nvSpPr>
        <p:spPr>
          <a:xfrm>
            <a:off x="1005840" y="3831336"/>
            <a:ext cx="10424160" cy="594360"/>
          </a:xfrm>
          <a:prstGeom prst="rect">
            <a:avLst/>
          </a:prstGeom>
          <a:noFill/>
        </p:spPr>
        <p:txBody>
          <a:bodyPr wrap="square">
            <a:spAutoFit/>
          </a:bodyPr>
          <a:lstStyle/>
          <a:p>
            <a:pPr algn="l"/>
            <a:r>
              <a:rPr sz="1200" b="0" i="0">
                <a:solidFill>
                  <a:srgbClr val="8888A0"/>
                </a:solidFill>
                <a:latin typeface="Calibri"/>
              </a:rPr>
              <a:t>Confirm which market should host the first Velocity Content proof point.</a:t>
            </a:r>
          </a:p>
        </p:txBody>
      </p:sp>
      <p:sp>
        <p:nvSpPr>
          <p:cNvPr id="16" name="Rectangle 15"/>
          <p:cNvSpPr/>
          <p:nvPr/>
        </p:nvSpPr>
        <p:spPr>
          <a:xfrm>
            <a:off x="548640" y="4471416"/>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544568"/>
            <a:ext cx="457200" cy="594360"/>
          </a:xfrm>
          <a:prstGeom prst="rect">
            <a:avLst/>
          </a:prstGeom>
          <a:noFill/>
        </p:spPr>
        <p:txBody>
          <a:bodyPr wrap="square">
            <a:spAutoFit/>
          </a:bodyPr>
          <a:lstStyle/>
          <a:p>
            <a:pPr algn="l"/>
            <a:r>
              <a:rPr sz="1200" b="1" i="0">
                <a:solidFill>
                  <a:srgbClr val="8888A0"/>
                </a:solidFill>
                <a:latin typeface="Calibri"/>
              </a:rPr>
              <a:t>05</a:t>
            </a:r>
          </a:p>
        </p:txBody>
      </p:sp>
      <p:sp>
        <p:nvSpPr>
          <p:cNvPr id="18" name="TextBox 17"/>
          <p:cNvSpPr txBox="1"/>
          <p:nvPr/>
        </p:nvSpPr>
        <p:spPr>
          <a:xfrm>
            <a:off x="1005840" y="4544568"/>
            <a:ext cx="10424160" cy="594360"/>
          </a:xfrm>
          <a:prstGeom prst="rect">
            <a:avLst/>
          </a:prstGeom>
          <a:noFill/>
        </p:spPr>
        <p:txBody>
          <a:bodyPr wrap="square">
            <a:spAutoFit/>
          </a:bodyPr>
          <a:lstStyle/>
          <a:p>
            <a:pPr algn="l"/>
            <a:r>
              <a:rPr sz="1200" b="0" i="0">
                <a:solidFill>
                  <a:srgbClr val="8888A0"/>
                </a:solidFill>
                <a:latin typeface="Calibri"/>
              </a:rPr>
              <a:t>Confirm restricted operating-model timing and what support Adobe will still need from Publicis.</a:t>
            </a:r>
          </a:p>
        </p:txBody>
      </p:sp>
      <p:sp>
        <p:nvSpPr>
          <p:cNvPr id="19" name="Rectangle 18"/>
          <p:cNvSpPr/>
          <p:nvPr/>
        </p:nvSpPr>
        <p:spPr>
          <a:xfrm>
            <a:off x="548640" y="5184648"/>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257800"/>
            <a:ext cx="457200" cy="594360"/>
          </a:xfrm>
          <a:prstGeom prst="rect">
            <a:avLst/>
          </a:prstGeom>
          <a:noFill/>
        </p:spPr>
        <p:txBody>
          <a:bodyPr wrap="square">
            <a:spAutoFit/>
          </a:bodyPr>
          <a:lstStyle/>
          <a:p>
            <a:pPr algn="l"/>
            <a:r>
              <a:rPr sz="1200" b="1" i="0">
                <a:solidFill>
                  <a:srgbClr val="8888A0"/>
                </a:solidFill>
                <a:latin typeface="Calibri"/>
              </a:rPr>
              <a:t>06</a:t>
            </a:r>
          </a:p>
        </p:txBody>
      </p:sp>
      <p:sp>
        <p:nvSpPr>
          <p:cNvPr id="21" name="TextBox 20"/>
          <p:cNvSpPr txBox="1"/>
          <p:nvPr/>
        </p:nvSpPr>
        <p:spPr>
          <a:xfrm>
            <a:off x="1005840" y="5257800"/>
            <a:ext cx="10424160" cy="594360"/>
          </a:xfrm>
          <a:prstGeom prst="rect">
            <a:avLst/>
          </a:prstGeom>
          <a:noFill/>
        </p:spPr>
        <p:txBody>
          <a:bodyPr wrap="square">
            <a:spAutoFit/>
          </a:bodyPr>
          <a:lstStyle/>
          <a:p>
            <a:pPr algn="l"/>
            <a:r>
              <a:rPr sz="1200" b="0" i="0">
                <a:solidFill>
                  <a:srgbClr val="8888A0"/>
                </a:solidFill>
                <a:latin typeface="Calibri"/>
              </a:rPr>
              <a:t>Confirm whether the first market model should segment APAC into emerging, growth/middle, and mature markets, and how this maps to Acrobat, Adobe Firefly, MAU, and paid conversion goals.</a:t>
            </a:r>
          </a:p>
        </p:txBody>
      </p:sp>
      <p:sp>
        <p:nvSpPr>
          <p:cNvPr id="22" name="Rectangle 21"/>
          <p:cNvSpPr/>
          <p:nvPr/>
        </p:nvSpPr>
        <p:spPr>
          <a:xfrm>
            <a:off x="548640" y="5897880"/>
            <a:ext cx="11064240" cy="12700"/>
          </a:xfrm>
          <a:prstGeom prst="rect">
            <a:avLst/>
          </a:prstGeom>
          <a:solidFill>
            <a:srgbClr val="2A2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492240"/>
            <a:ext cx="10972800" cy="274320"/>
          </a:xfrm>
          <a:prstGeom prst="rect">
            <a:avLst/>
          </a:prstGeom>
          <a:noFill/>
        </p:spPr>
        <p:txBody>
          <a:bodyPr wrap="square">
            <a:spAutoFit/>
          </a:bodyPr>
          <a:lstStyle/>
          <a:p>
            <a:pPr algn="l"/>
            <a:r>
              <a:rPr sz="800" b="0" i="0">
                <a:solidFill>
                  <a:srgbClr val="8888A0"/>
                </a:solidFill>
                <a:latin typeface="Calibri"/>
              </a:rPr>
              <a:t>adobe.pub  ·  Account Operating System  ·  APAC  ·  INTERNAL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